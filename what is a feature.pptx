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x="18288000" cy="10287000"/>
  <p:notesSz cx="6858000" cy="9144000"/>
  <p:embeddedFontLst>
    <p:embeddedFont>
      <p:font typeface="Inter" charset="1" panose="020B0502030000000004"/>
      <p:regular r:id="rId17"/>
    </p:embeddedFont>
    <p:embeddedFont>
      <p:font typeface="Inter Bold" charset="1" panose="020B0802030000000004"/>
      <p:regular r:id="rId18"/>
    </p:embeddedFont>
    <p:embeddedFont>
      <p:font typeface="Inter Light" charset="1" panose="02000503000000020004"/>
      <p:regular r:id="rId19"/>
    </p:embeddedFont>
    <p:embeddedFont>
      <p:font typeface="Nunito Sans Expanded Bold" charset="1" panose="00000000000000000000"/>
      <p:regular r:id="rId2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png" Type="http://schemas.openxmlformats.org/officeDocument/2006/relationships/image"/><Relationship Id="rId8" Target="../media/image7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Relationship Id="rId3" Target="../media/image9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Relationship Id="rId3" Target="../media/image11.svg" Type="http://schemas.openxmlformats.org/officeDocument/2006/relationships/image"/><Relationship Id="rId4" Target="../media/image12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png" Type="http://schemas.openxmlformats.org/officeDocument/2006/relationships/image"/><Relationship Id="rId3" Target="../media/image15.svg" Type="http://schemas.openxmlformats.org/officeDocument/2006/relationships/image"/><Relationship Id="rId4" Target="../media/image16.png" Type="http://schemas.openxmlformats.org/officeDocument/2006/relationships/image"/><Relationship Id="rId5" Target="../media/image17.png" Type="http://schemas.openxmlformats.org/officeDocument/2006/relationships/image"/><Relationship Id="rId6" Target="../media/image18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9.png" Type="http://schemas.openxmlformats.org/officeDocument/2006/relationships/image"/><Relationship Id="rId3" Target="../media/image20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1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2.png" Type="http://schemas.openxmlformats.org/officeDocument/2006/relationships/image"/><Relationship Id="rId3" Target="../media/image23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4.png" Type="http://schemas.openxmlformats.org/officeDocument/2006/relationships/image"/><Relationship Id="rId3" Target="../media/image25.svg" Type="http://schemas.openxmlformats.org/officeDocument/2006/relationships/image"/><Relationship Id="rId4" Target="../media/image26.png" Type="http://schemas.openxmlformats.org/officeDocument/2006/relationships/image"/><Relationship Id="rId5" Target="../media/image27.png" Type="http://schemas.openxmlformats.org/officeDocument/2006/relationships/image"/><Relationship Id="rId6" Target="../media/image28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9.png" Type="http://schemas.openxmlformats.org/officeDocument/2006/relationships/image"/><Relationship Id="rId3" Target="../media/image30.sv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1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EF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-381761" y="1042987"/>
            <a:ext cx="19051521" cy="0"/>
          </a:xfrm>
          <a:prstGeom prst="line">
            <a:avLst/>
          </a:prstGeom>
          <a:ln cap="flat" w="9525">
            <a:solidFill>
              <a:srgbClr val="22222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3" id="3"/>
          <p:cNvGrpSpPr/>
          <p:nvPr/>
        </p:nvGrpSpPr>
        <p:grpSpPr>
          <a:xfrm rot="0">
            <a:off x="-381761" y="9258300"/>
            <a:ext cx="19051521" cy="556444"/>
            <a:chOff x="0" y="0"/>
            <a:chExt cx="5017685" cy="14655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017685" cy="146553"/>
            </a:xfrm>
            <a:custGeom>
              <a:avLst/>
              <a:gdLst/>
              <a:ahLst/>
              <a:cxnLst/>
              <a:rect r="r" b="b" t="t" l="l"/>
              <a:pathLst>
                <a:path h="146553" w="5017685">
                  <a:moveTo>
                    <a:pt x="0" y="0"/>
                  </a:moveTo>
                  <a:lnTo>
                    <a:pt x="5017685" y="0"/>
                  </a:lnTo>
                  <a:lnTo>
                    <a:pt x="5017685" y="146553"/>
                  </a:lnTo>
                  <a:lnTo>
                    <a:pt x="0" y="146553"/>
                  </a:lnTo>
                  <a:close/>
                </a:path>
              </a:pathLst>
            </a:custGeom>
            <a:solidFill>
              <a:srgbClr val="F7F7F3"/>
            </a:solidFill>
            <a:ln w="9525" cap="sq">
              <a:solidFill>
                <a:srgbClr val="222220"/>
              </a:solidFill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19050"/>
              <a:ext cx="5017685" cy="12750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1400"/>
                </a:lnSpc>
                <a:spcBef>
                  <a:spcPct val="0"/>
                </a:spcBef>
              </a:pPr>
            </a:p>
          </p:txBody>
        </p:sp>
      </p:grpSp>
      <p:sp>
        <p:nvSpPr>
          <p:cNvPr name="AutoShape 6" id="6"/>
          <p:cNvSpPr/>
          <p:nvPr/>
        </p:nvSpPr>
        <p:spPr>
          <a:xfrm flipV="true">
            <a:off x="13835392" y="1028700"/>
            <a:ext cx="0" cy="8229600"/>
          </a:xfrm>
          <a:prstGeom prst="line">
            <a:avLst/>
          </a:prstGeom>
          <a:ln cap="flat" w="9525">
            <a:solidFill>
              <a:srgbClr val="22222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7" id="7"/>
          <p:cNvSpPr/>
          <p:nvPr/>
        </p:nvSpPr>
        <p:spPr>
          <a:xfrm flipV="true">
            <a:off x="4452608" y="1028700"/>
            <a:ext cx="0" cy="8229600"/>
          </a:xfrm>
          <a:prstGeom prst="line">
            <a:avLst/>
          </a:prstGeom>
          <a:ln cap="flat" w="9525">
            <a:solidFill>
              <a:srgbClr val="22222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8" id="8"/>
          <p:cNvSpPr/>
          <p:nvPr/>
        </p:nvSpPr>
        <p:spPr>
          <a:xfrm flipH="false" flipV="false" rot="0">
            <a:off x="1923244" y="6188782"/>
            <a:ext cx="1772604" cy="2419186"/>
          </a:xfrm>
          <a:custGeom>
            <a:avLst/>
            <a:gdLst/>
            <a:ahLst/>
            <a:cxnLst/>
            <a:rect r="r" b="b" t="t" l="l"/>
            <a:pathLst>
              <a:path h="2419186" w="1772604">
                <a:moveTo>
                  <a:pt x="0" y="0"/>
                </a:moveTo>
                <a:lnTo>
                  <a:pt x="1772604" y="0"/>
                </a:lnTo>
                <a:lnTo>
                  <a:pt x="1772604" y="2419186"/>
                </a:lnTo>
                <a:lnTo>
                  <a:pt x="0" y="241918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707516" y="4098218"/>
            <a:ext cx="2102029" cy="2090564"/>
          </a:xfrm>
          <a:custGeom>
            <a:avLst/>
            <a:gdLst/>
            <a:ahLst/>
            <a:cxnLst/>
            <a:rect r="r" b="b" t="t" l="l"/>
            <a:pathLst>
              <a:path h="2090564" w="2102029">
                <a:moveTo>
                  <a:pt x="0" y="0"/>
                </a:moveTo>
                <a:lnTo>
                  <a:pt x="2102030" y="0"/>
                </a:lnTo>
                <a:lnTo>
                  <a:pt x="2102030" y="2090564"/>
                </a:lnTo>
                <a:lnTo>
                  <a:pt x="0" y="209056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6122233" y="4197904"/>
            <a:ext cx="1674826" cy="1990878"/>
          </a:xfrm>
          <a:custGeom>
            <a:avLst/>
            <a:gdLst/>
            <a:ahLst/>
            <a:cxnLst/>
            <a:rect r="r" b="b" t="t" l="l"/>
            <a:pathLst>
              <a:path h="1990878" w="1674826">
                <a:moveTo>
                  <a:pt x="0" y="0"/>
                </a:moveTo>
                <a:lnTo>
                  <a:pt x="1674826" y="0"/>
                </a:lnTo>
                <a:lnTo>
                  <a:pt x="1674826" y="1990878"/>
                </a:lnTo>
                <a:lnTo>
                  <a:pt x="0" y="199087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4899782" y="2138040"/>
            <a:ext cx="2059864" cy="2059864"/>
          </a:xfrm>
          <a:custGeom>
            <a:avLst/>
            <a:gdLst/>
            <a:ahLst/>
            <a:cxnLst/>
            <a:rect r="r" b="b" t="t" l="l"/>
            <a:pathLst>
              <a:path h="2059864" w="2059864">
                <a:moveTo>
                  <a:pt x="0" y="0"/>
                </a:moveTo>
                <a:lnTo>
                  <a:pt x="2059864" y="0"/>
                </a:lnTo>
                <a:lnTo>
                  <a:pt x="2059864" y="2059864"/>
                </a:lnTo>
                <a:lnTo>
                  <a:pt x="0" y="2059864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8854678" y="685721"/>
            <a:ext cx="152400" cy="13335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 marL="0" indent="0" lvl="0">
              <a:lnSpc>
                <a:spcPts val="1400"/>
              </a:lnSpc>
              <a:spcBef>
                <a:spcPct val="0"/>
              </a:spcBef>
            </a:pPr>
            <a:r>
              <a:rPr lang="en-US" sz="1400" spc="-28" strike="noStrike" u="none">
                <a:solidFill>
                  <a:srgbClr val="222220"/>
                </a:solidFill>
                <a:latin typeface="Inter"/>
                <a:ea typeface="Inter"/>
                <a:cs typeface="Inter"/>
                <a:sym typeface="Inter"/>
              </a:rPr>
              <a:t>PAGE 1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5677549" y="4183943"/>
            <a:ext cx="7095806" cy="12345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rtl="true">
              <a:lnSpc>
                <a:spcPts val="4730"/>
              </a:lnSpc>
            </a:pPr>
            <a:r>
              <a:rPr lang="en-US" b="true" sz="4730" spc="-236">
                <a:solidFill>
                  <a:srgbClr val="0E7658"/>
                </a:solidFill>
                <a:latin typeface="Inter Bold"/>
                <a:ea typeface="Inter Bold"/>
                <a:cs typeface="Inter Bold"/>
                <a:sym typeface="Inter Bold"/>
              </a:rPr>
              <a:t>What Is a Feature and</a:t>
            </a:r>
          </a:p>
          <a:p>
            <a:pPr algn="ctr" rtl="true">
              <a:lnSpc>
                <a:spcPts val="4730"/>
              </a:lnSpc>
              <a:spcBef>
                <a:spcPct val="0"/>
              </a:spcBef>
            </a:pPr>
            <a:r>
              <a:rPr lang="ar-EG" b="true" sz="4730" spc="-236">
                <a:solidFill>
                  <a:srgbClr val="0E7658"/>
                </a:solidFill>
                <a:latin typeface="Inter Bold"/>
                <a:ea typeface="Inter Bold"/>
                <a:cs typeface="Inter Bold"/>
                <a:sym typeface="Inter Bold"/>
                <a:rtl val="true"/>
              </a:rPr>
              <a:t>?</a:t>
            </a:r>
            <a:r>
              <a:rPr lang="en-US" b="true" sz="4730" spc="-236">
                <a:solidFill>
                  <a:srgbClr val="0E7658"/>
                </a:solidFill>
                <a:latin typeface="Inter Bold"/>
                <a:ea typeface="Inter Bold"/>
                <a:cs typeface="Inter Bold"/>
                <a:sym typeface="Inter Bold"/>
              </a:rPr>
              <a:t>its role in Making a model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0142270" y="7810767"/>
            <a:ext cx="3693121" cy="11567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07"/>
              </a:lnSpc>
            </a:pPr>
            <a:r>
              <a:rPr lang="en-US" sz="3007" spc="-150">
                <a:solidFill>
                  <a:srgbClr val="2E302E"/>
                </a:solidFill>
                <a:latin typeface="Inter Light"/>
                <a:ea typeface="Inter Light"/>
                <a:cs typeface="Inter Light"/>
                <a:sym typeface="Inter Light"/>
              </a:rPr>
              <a:t>made by</a:t>
            </a:r>
          </a:p>
          <a:p>
            <a:pPr algn="ctr">
              <a:lnSpc>
                <a:spcPts val="3007"/>
              </a:lnSpc>
            </a:pPr>
            <a:r>
              <a:rPr lang="en-US" sz="3007" spc="-150">
                <a:solidFill>
                  <a:srgbClr val="2E302E"/>
                </a:solidFill>
                <a:latin typeface="Inter Light"/>
                <a:ea typeface="Inter Light"/>
                <a:cs typeface="Inter Light"/>
                <a:sym typeface="Inter Light"/>
              </a:rPr>
              <a:t>mona mohammed</a:t>
            </a:r>
          </a:p>
          <a:p>
            <a:pPr algn="ctr">
              <a:lnSpc>
                <a:spcPts val="3007"/>
              </a:lnSpc>
              <a:spcBef>
                <a:spcPct val="0"/>
              </a:spcBef>
            </a:pPr>
            <a:r>
              <a:rPr lang="en-US" sz="3007" spc="-150">
                <a:solidFill>
                  <a:srgbClr val="2E302E"/>
                </a:solidFill>
                <a:latin typeface="Inter Light"/>
                <a:ea typeface="Inter Light"/>
                <a:cs typeface="Inter Light"/>
                <a:sym typeface="Inter Light"/>
              </a:rPr>
              <a:t>mariem emad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EF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2349233" y="3107313"/>
            <a:ext cx="4079310" cy="4845832"/>
          </a:xfrm>
          <a:custGeom>
            <a:avLst/>
            <a:gdLst/>
            <a:ahLst/>
            <a:cxnLst/>
            <a:rect r="r" b="b" t="t" l="l"/>
            <a:pathLst>
              <a:path h="4845832" w="4079310">
                <a:moveTo>
                  <a:pt x="0" y="0"/>
                </a:moveTo>
                <a:lnTo>
                  <a:pt x="4079310" y="0"/>
                </a:lnTo>
                <a:lnTo>
                  <a:pt x="4079310" y="4845833"/>
                </a:lnTo>
                <a:lnTo>
                  <a:pt x="0" y="484583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8854678" y="872728"/>
            <a:ext cx="152400" cy="13335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 marL="0" indent="0" lvl="0">
              <a:lnSpc>
                <a:spcPts val="1400"/>
              </a:lnSpc>
              <a:spcBef>
                <a:spcPct val="0"/>
              </a:spcBef>
            </a:pPr>
            <a:r>
              <a:rPr lang="en-US" sz="1400" spc="-28" strike="noStrike" u="none">
                <a:solidFill>
                  <a:srgbClr val="222220"/>
                </a:solidFill>
                <a:latin typeface="Inter"/>
                <a:ea typeface="Inter"/>
                <a:cs typeface="Inter"/>
                <a:sym typeface="Inter"/>
              </a:rPr>
              <a:t>PAGE 2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5996156" y="1623695"/>
            <a:ext cx="6932434" cy="6321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24"/>
              </a:lnSpc>
              <a:spcBef>
                <a:spcPct val="0"/>
              </a:spcBef>
            </a:pPr>
            <a:r>
              <a:rPr lang="en-US" b="true" sz="4084">
                <a:solidFill>
                  <a:srgbClr val="0E7658"/>
                </a:solidFill>
                <a:latin typeface="Inter Bold"/>
                <a:ea typeface="Inter Bold"/>
                <a:cs typeface="Inter Bold"/>
                <a:sym typeface="Inter Bold"/>
              </a:rPr>
              <a:t>What is a Feature?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746892" y="3097788"/>
            <a:ext cx="9593610" cy="4445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611416" indent="-305708" lvl="1">
              <a:lnSpc>
                <a:spcPts val="3483"/>
              </a:lnSpc>
              <a:buFont typeface="Arial"/>
              <a:buChar char="•"/>
            </a:pPr>
            <a:r>
              <a:rPr lang="en-US" sz="2831">
                <a:solidFill>
                  <a:srgbClr val="000000"/>
                </a:solidFill>
                <a:latin typeface="Inter Light"/>
                <a:ea typeface="Inter Light"/>
                <a:cs typeface="Inter Light"/>
                <a:sym typeface="Inter Light"/>
              </a:rPr>
              <a:t>A feature is a measurable characteristic of data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547626" y="4336879"/>
            <a:ext cx="11041603" cy="4321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697450" indent="-348725" lvl="1">
              <a:lnSpc>
                <a:spcPts val="3230"/>
              </a:lnSpc>
              <a:buFont typeface="Arial"/>
              <a:buChar char="•"/>
            </a:pPr>
            <a:r>
              <a:rPr lang="en-US" sz="3230" spc="-161">
                <a:solidFill>
                  <a:srgbClr val="000000"/>
                </a:solidFill>
                <a:latin typeface="Inter Light"/>
                <a:ea typeface="Inter Light"/>
                <a:cs typeface="Inter Light"/>
                <a:sym typeface="Inter Light"/>
              </a:rPr>
              <a:t>its provides useful information forunderstanding data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EF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939103" y="5709179"/>
            <a:ext cx="178979" cy="178979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DCDC9"/>
            </a:solidFill>
            <a:ln w="9525" cap="sq">
              <a:solidFill>
                <a:srgbClr val="222220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76200" y="104775"/>
              <a:ext cx="660400" cy="6318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9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939103" y="6229562"/>
            <a:ext cx="178979" cy="178979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" cap="sq">
              <a:solidFill>
                <a:srgbClr val="222220"/>
              </a:solidFill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76200" y="104775"/>
              <a:ext cx="660400" cy="6318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9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939103" y="6730351"/>
            <a:ext cx="178979" cy="178979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DCDC9"/>
            </a:solidFill>
            <a:ln w="9525" cap="sq">
              <a:solidFill>
                <a:srgbClr val="222220"/>
              </a:solidFill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76200" y="104775"/>
              <a:ext cx="660400" cy="6318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9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940869" y="7278536"/>
            <a:ext cx="178979" cy="178979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" cap="sq">
              <a:solidFill>
                <a:srgbClr val="222220"/>
              </a:solidFill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76200" y="104775"/>
              <a:ext cx="660400" cy="6318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99"/>
                </a:lnSpc>
              </a:pPr>
            </a:p>
          </p:txBody>
        </p:sp>
      </p:grpSp>
      <p:sp>
        <p:nvSpPr>
          <p:cNvPr name="AutoShape 14" id="14"/>
          <p:cNvSpPr/>
          <p:nvPr/>
        </p:nvSpPr>
        <p:spPr>
          <a:xfrm flipV="true">
            <a:off x="6636225" y="4348907"/>
            <a:ext cx="0" cy="5037250"/>
          </a:xfrm>
          <a:prstGeom prst="line">
            <a:avLst/>
          </a:prstGeom>
          <a:ln cap="flat" w="9525">
            <a:solidFill>
              <a:srgbClr val="22222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5" id="15"/>
          <p:cNvSpPr/>
          <p:nvPr/>
        </p:nvSpPr>
        <p:spPr>
          <a:xfrm flipV="true">
            <a:off x="12295478" y="4348907"/>
            <a:ext cx="0" cy="5037250"/>
          </a:xfrm>
          <a:prstGeom prst="line">
            <a:avLst/>
          </a:prstGeom>
          <a:ln cap="flat" w="9525">
            <a:solidFill>
              <a:srgbClr val="22222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6" id="16"/>
          <p:cNvGrpSpPr/>
          <p:nvPr/>
        </p:nvGrpSpPr>
        <p:grpSpPr>
          <a:xfrm rot="0">
            <a:off x="7598356" y="5709179"/>
            <a:ext cx="178979" cy="178979"/>
            <a:chOff x="0" y="0"/>
            <a:chExt cx="812800" cy="8128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" cap="sq">
              <a:solidFill>
                <a:srgbClr val="222220"/>
              </a:solidFill>
              <a:prstDash val="solid"/>
              <a:miter/>
            </a:ln>
          </p:spPr>
        </p:sp>
        <p:sp>
          <p:nvSpPr>
            <p:cNvPr name="TextBox 18" id="18"/>
            <p:cNvSpPr txBox="true"/>
            <p:nvPr/>
          </p:nvSpPr>
          <p:spPr>
            <a:xfrm>
              <a:off x="76200" y="104775"/>
              <a:ext cx="660400" cy="6318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99"/>
                </a:lnSpc>
              </a:pP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7598356" y="6109229"/>
            <a:ext cx="178979" cy="178979"/>
            <a:chOff x="0" y="0"/>
            <a:chExt cx="812800" cy="8128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DCDC9"/>
            </a:solidFill>
            <a:ln w="9525" cap="sq">
              <a:solidFill>
                <a:srgbClr val="222220"/>
              </a:solidFill>
              <a:prstDash val="solid"/>
              <a:miter/>
            </a:ln>
          </p:spPr>
        </p:sp>
        <p:sp>
          <p:nvSpPr>
            <p:cNvPr name="TextBox 21" id="21"/>
            <p:cNvSpPr txBox="true"/>
            <p:nvPr/>
          </p:nvSpPr>
          <p:spPr>
            <a:xfrm>
              <a:off x="76200" y="104775"/>
              <a:ext cx="660400" cy="6318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99"/>
                </a:lnSpc>
              </a:pP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7598356" y="6509279"/>
            <a:ext cx="178979" cy="178979"/>
            <a:chOff x="0" y="0"/>
            <a:chExt cx="812800" cy="8128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" cap="sq">
              <a:solidFill>
                <a:srgbClr val="222220"/>
              </a:solidFill>
              <a:prstDash val="solid"/>
              <a:miter/>
            </a:ln>
          </p:spPr>
        </p:sp>
        <p:sp>
          <p:nvSpPr>
            <p:cNvPr name="TextBox 24" id="24"/>
            <p:cNvSpPr txBox="true"/>
            <p:nvPr/>
          </p:nvSpPr>
          <p:spPr>
            <a:xfrm>
              <a:off x="76200" y="104775"/>
              <a:ext cx="660400" cy="6318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99"/>
                </a:lnSpc>
              </a:pP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7598356" y="7058554"/>
            <a:ext cx="178979" cy="178979"/>
            <a:chOff x="0" y="0"/>
            <a:chExt cx="812800" cy="81280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" cap="sq">
              <a:solidFill>
                <a:srgbClr val="222220"/>
              </a:solidFill>
              <a:prstDash val="solid"/>
              <a:miter/>
            </a:ln>
          </p:spPr>
        </p:sp>
        <p:sp>
          <p:nvSpPr>
            <p:cNvPr name="TextBox 27" id="27"/>
            <p:cNvSpPr txBox="true"/>
            <p:nvPr/>
          </p:nvSpPr>
          <p:spPr>
            <a:xfrm>
              <a:off x="76200" y="104775"/>
              <a:ext cx="660400" cy="6318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99"/>
                </a:lnSpc>
              </a:pP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13257608" y="5709179"/>
            <a:ext cx="178979" cy="178979"/>
            <a:chOff x="0" y="0"/>
            <a:chExt cx="812800" cy="81280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DCDC9"/>
            </a:solidFill>
            <a:ln w="9525" cap="sq">
              <a:solidFill>
                <a:srgbClr val="222220"/>
              </a:solidFill>
              <a:prstDash val="solid"/>
              <a:miter/>
            </a:ln>
          </p:spPr>
        </p:sp>
        <p:sp>
          <p:nvSpPr>
            <p:cNvPr name="TextBox 30" id="30"/>
            <p:cNvSpPr txBox="true"/>
            <p:nvPr/>
          </p:nvSpPr>
          <p:spPr>
            <a:xfrm>
              <a:off x="76200" y="104775"/>
              <a:ext cx="660400" cy="6318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99"/>
                </a:lnSpc>
              </a:pP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13257608" y="6109229"/>
            <a:ext cx="178979" cy="178979"/>
            <a:chOff x="0" y="0"/>
            <a:chExt cx="812800" cy="81280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DCDC9"/>
            </a:solidFill>
            <a:ln w="9525" cap="sq">
              <a:solidFill>
                <a:srgbClr val="222220"/>
              </a:solidFill>
              <a:prstDash val="solid"/>
              <a:miter/>
            </a:ln>
          </p:spPr>
        </p:sp>
        <p:sp>
          <p:nvSpPr>
            <p:cNvPr name="TextBox 33" id="33"/>
            <p:cNvSpPr txBox="true"/>
            <p:nvPr/>
          </p:nvSpPr>
          <p:spPr>
            <a:xfrm>
              <a:off x="76200" y="104775"/>
              <a:ext cx="660400" cy="6318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99"/>
                </a:lnSpc>
              </a:pP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13257608" y="6509279"/>
            <a:ext cx="178979" cy="178979"/>
            <a:chOff x="0" y="0"/>
            <a:chExt cx="812800" cy="81280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DCDC9"/>
            </a:solidFill>
            <a:ln w="9525" cap="sq">
              <a:solidFill>
                <a:srgbClr val="222220"/>
              </a:solidFill>
              <a:prstDash val="solid"/>
              <a:miter/>
            </a:ln>
          </p:spPr>
        </p:sp>
        <p:sp>
          <p:nvSpPr>
            <p:cNvPr name="TextBox 36" id="36"/>
            <p:cNvSpPr txBox="true"/>
            <p:nvPr/>
          </p:nvSpPr>
          <p:spPr>
            <a:xfrm>
              <a:off x="76200" y="104775"/>
              <a:ext cx="660400" cy="6318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99"/>
                </a:lnSpc>
              </a:pP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13257608" y="7089397"/>
            <a:ext cx="178979" cy="178979"/>
            <a:chOff x="0" y="0"/>
            <a:chExt cx="812800" cy="81280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" cap="sq">
              <a:solidFill>
                <a:srgbClr val="222220"/>
              </a:solidFill>
              <a:prstDash val="solid"/>
              <a:miter/>
            </a:ln>
          </p:spPr>
        </p:sp>
        <p:sp>
          <p:nvSpPr>
            <p:cNvPr name="TextBox 39" id="39"/>
            <p:cNvSpPr txBox="true"/>
            <p:nvPr/>
          </p:nvSpPr>
          <p:spPr>
            <a:xfrm>
              <a:off x="76200" y="104775"/>
              <a:ext cx="660400" cy="6318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99"/>
                </a:lnSpc>
              </a:pPr>
            </a:p>
          </p:txBody>
        </p:sp>
      </p:grpSp>
      <p:sp>
        <p:nvSpPr>
          <p:cNvPr name="AutoShape 40" id="40"/>
          <p:cNvSpPr/>
          <p:nvPr/>
        </p:nvSpPr>
        <p:spPr>
          <a:xfrm>
            <a:off x="-381761" y="1042987"/>
            <a:ext cx="19051521" cy="0"/>
          </a:xfrm>
          <a:prstGeom prst="line">
            <a:avLst/>
          </a:prstGeom>
          <a:ln cap="flat" w="9525">
            <a:solidFill>
              <a:srgbClr val="22222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41" id="41"/>
          <p:cNvGrpSpPr/>
          <p:nvPr/>
        </p:nvGrpSpPr>
        <p:grpSpPr>
          <a:xfrm rot="0">
            <a:off x="-381761" y="9258300"/>
            <a:ext cx="19051521" cy="556444"/>
            <a:chOff x="0" y="0"/>
            <a:chExt cx="5017685" cy="146553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5017685" cy="146553"/>
            </a:xfrm>
            <a:custGeom>
              <a:avLst/>
              <a:gdLst/>
              <a:ahLst/>
              <a:cxnLst/>
              <a:rect r="r" b="b" t="t" l="l"/>
              <a:pathLst>
                <a:path h="146553" w="5017685">
                  <a:moveTo>
                    <a:pt x="0" y="0"/>
                  </a:moveTo>
                  <a:lnTo>
                    <a:pt x="5017685" y="0"/>
                  </a:lnTo>
                  <a:lnTo>
                    <a:pt x="5017685" y="146553"/>
                  </a:lnTo>
                  <a:lnTo>
                    <a:pt x="0" y="146553"/>
                  </a:lnTo>
                  <a:close/>
                </a:path>
              </a:pathLst>
            </a:custGeom>
            <a:solidFill>
              <a:srgbClr val="F7F7F3"/>
            </a:solidFill>
            <a:ln w="9525" cap="sq">
              <a:solidFill>
                <a:srgbClr val="222220"/>
              </a:solidFill>
              <a:prstDash val="solid"/>
              <a:miter/>
            </a:ln>
          </p:spPr>
        </p:sp>
        <p:sp>
          <p:nvSpPr>
            <p:cNvPr name="TextBox 43" id="43"/>
            <p:cNvSpPr txBox="true"/>
            <p:nvPr/>
          </p:nvSpPr>
          <p:spPr>
            <a:xfrm>
              <a:off x="0" y="19050"/>
              <a:ext cx="5017685" cy="12750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1400"/>
                </a:lnSpc>
                <a:spcBef>
                  <a:spcPct val="0"/>
                </a:spcBef>
              </a:pPr>
            </a:p>
          </p:txBody>
        </p:sp>
      </p:grpSp>
      <p:sp>
        <p:nvSpPr>
          <p:cNvPr name="AutoShape 44" id="44"/>
          <p:cNvSpPr/>
          <p:nvPr/>
        </p:nvSpPr>
        <p:spPr>
          <a:xfrm>
            <a:off x="-457440" y="4348907"/>
            <a:ext cx="19051521" cy="0"/>
          </a:xfrm>
          <a:prstGeom prst="line">
            <a:avLst/>
          </a:prstGeom>
          <a:ln cap="flat" w="9525">
            <a:solidFill>
              <a:srgbClr val="22222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45" id="45"/>
          <p:cNvSpPr/>
          <p:nvPr/>
        </p:nvSpPr>
        <p:spPr>
          <a:xfrm flipH="false" flipV="false" rot="-5400000">
            <a:off x="14801343" y="2260995"/>
            <a:ext cx="134091" cy="181204"/>
          </a:xfrm>
          <a:custGeom>
            <a:avLst/>
            <a:gdLst/>
            <a:ahLst/>
            <a:cxnLst/>
            <a:rect r="r" b="b" t="t" l="l"/>
            <a:pathLst>
              <a:path h="181204" w="134091">
                <a:moveTo>
                  <a:pt x="0" y="0"/>
                </a:moveTo>
                <a:lnTo>
                  <a:pt x="134091" y="0"/>
                </a:lnTo>
                <a:lnTo>
                  <a:pt x="134091" y="181204"/>
                </a:lnTo>
                <a:lnTo>
                  <a:pt x="0" y="18120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6" id="46"/>
          <p:cNvSpPr/>
          <p:nvPr/>
        </p:nvSpPr>
        <p:spPr>
          <a:xfrm flipH="false" flipV="false" rot="0">
            <a:off x="13257608" y="1561858"/>
            <a:ext cx="3471971" cy="2495479"/>
          </a:xfrm>
          <a:custGeom>
            <a:avLst/>
            <a:gdLst/>
            <a:ahLst/>
            <a:cxnLst/>
            <a:rect r="r" b="b" t="t" l="l"/>
            <a:pathLst>
              <a:path h="2495479" w="3471971">
                <a:moveTo>
                  <a:pt x="0" y="0"/>
                </a:moveTo>
                <a:lnTo>
                  <a:pt x="3471970" y="0"/>
                </a:lnTo>
                <a:lnTo>
                  <a:pt x="3471970" y="2495479"/>
                </a:lnTo>
                <a:lnTo>
                  <a:pt x="0" y="249547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47" id="47"/>
          <p:cNvSpPr txBox="true"/>
          <p:nvPr/>
        </p:nvSpPr>
        <p:spPr>
          <a:xfrm rot="0">
            <a:off x="2348448" y="5674209"/>
            <a:ext cx="3325647" cy="2965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299"/>
              </a:lnSpc>
            </a:pPr>
            <a:r>
              <a:rPr lang="en-US" sz="2299" spc="-114">
                <a:solidFill>
                  <a:srgbClr val="222220"/>
                </a:solidFill>
                <a:latin typeface="Inter Light"/>
                <a:ea typeface="Inter Light"/>
                <a:cs typeface="Inter Light"/>
                <a:sym typeface="Inter Light"/>
              </a:rPr>
              <a:t>Distance between eyes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2497898" y="6169781"/>
            <a:ext cx="3325647" cy="2844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199"/>
              </a:lnSpc>
            </a:pPr>
            <a:r>
              <a:rPr lang="en-US" sz="2199" spc="-109">
                <a:solidFill>
                  <a:srgbClr val="222220"/>
                </a:solidFill>
                <a:latin typeface="Inter Light"/>
                <a:ea typeface="Inter Light"/>
                <a:cs typeface="Inter Light"/>
                <a:sym typeface="Inter Light"/>
              </a:rPr>
              <a:t>face shape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2348448" y="6695380"/>
            <a:ext cx="3325647" cy="2965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299"/>
              </a:lnSpc>
            </a:pPr>
            <a:r>
              <a:rPr lang="en-US" sz="2299" spc="-114">
                <a:solidFill>
                  <a:srgbClr val="222220"/>
                </a:solidFill>
                <a:latin typeface="Inter Light"/>
                <a:ea typeface="Inter Light"/>
                <a:cs typeface="Inter Light"/>
                <a:sym typeface="Inter Light"/>
              </a:rPr>
              <a:t>Nose width</a:t>
            </a:r>
          </a:p>
        </p:txBody>
      </p:sp>
      <p:sp>
        <p:nvSpPr>
          <p:cNvPr name="TextBox 50" id="50"/>
          <p:cNvSpPr txBox="true"/>
          <p:nvPr/>
        </p:nvSpPr>
        <p:spPr>
          <a:xfrm rot="0">
            <a:off x="2348448" y="7166776"/>
            <a:ext cx="3325647" cy="2965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299"/>
              </a:lnSpc>
            </a:pPr>
            <a:r>
              <a:rPr lang="en-US" sz="2299" spc="-114">
                <a:solidFill>
                  <a:srgbClr val="222220"/>
                </a:solidFill>
                <a:latin typeface="Inter Light"/>
                <a:ea typeface="Inter Light"/>
                <a:cs typeface="Inter Light"/>
                <a:sym typeface="Inter Light"/>
              </a:rPr>
              <a:t>skin texture</a:t>
            </a:r>
          </a:p>
        </p:txBody>
      </p:sp>
      <p:sp>
        <p:nvSpPr>
          <p:cNvPr name="TextBox 51" id="51"/>
          <p:cNvSpPr txBox="true"/>
          <p:nvPr/>
        </p:nvSpPr>
        <p:spPr>
          <a:xfrm rot="0">
            <a:off x="1071933" y="4943006"/>
            <a:ext cx="3804579" cy="3645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092"/>
              </a:lnSpc>
              <a:spcBef>
                <a:spcPct val="0"/>
              </a:spcBef>
            </a:pPr>
            <a:r>
              <a:rPr lang="en-US" b="true" sz="2208" spc="44">
                <a:solidFill>
                  <a:srgbClr val="92A68D"/>
                </a:solidFill>
                <a:latin typeface="Nunito Sans Expanded Bold"/>
                <a:ea typeface="Nunito Sans Expanded Bold"/>
                <a:cs typeface="Nunito Sans Expanded Bold"/>
                <a:sym typeface="Nunito Sans Expanded Bold"/>
              </a:rPr>
              <a:t>FACE RECOGNITION</a:t>
            </a:r>
          </a:p>
        </p:txBody>
      </p:sp>
      <p:sp>
        <p:nvSpPr>
          <p:cNvPr name="TextBox 52" id="52"/>
          <p:cNvSpPr txBox="true"/>
          <p:nvPr/>
        </p:nvSpPr>
        <p:spPr>
          <a:xfrm rot="0">
            <a:off x="8007701" y="5680241"/>
            <a:ext cx="3325647" cy="2844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199"/>
              </a:lnSpc>
            </a:pPr>
            <a:r>
              <a:rPr lang="en-US" sz="2199" spc="-109">
                <a:solidFill>
                  <a:srgbClr val="222220"/>
                </a:solidFill>
                <a:latin typeface="Inter Light"/>
                <a:ea typeface="Inter Light"/>
                <a:cs typeface="Inter Light"/>
                <a:sym typeface="Inter Light"/>
              </a:rPr>
              <a:t>pitch</a:t>
            </a:r>
          </a:p>
        </p:txBody>
      </p:sp>
      <p:sp>
        <p:nvSpPr>
          <p:cNvPr name="TextBox 53" id="53"/>
          <p:cNvSpPr txBox="true"/>
          <p:nvPr/>
        </p:nvSpPr>
        <p:spPr>
          <a:xfrm rot="0">
            <a:off x="8007701" y="6080291"/>
            <a:ext cx="3325647" cy="2844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199"/>
              </a:lnSpc>
            </a:pPr>
            <a:r>
              <a:rPr lang="en-US" sz="2199" spc="-109">
                <a:solidFill>
                  <a:srgbClr val="222220"/>
                </a:solidFill>
                <a:latin typeface="Inter Light"/>
                <a:ea typeface="Inter Light"/>
                <a:cs typeface="Inter Light"/>
                <a:sym typeface="Inter Light"/>
              </a:rPr>
              <a:t>volume</a:t>
            </a:r>
          </a:p>
        </p:txBody>
      </p:sp>
      <p:sp>
        <p:nvSpPr>
          <p:cNvPr name="TextBox 54" id="54"/>
          <p:cNvSpPr txBox="true"/>
          <p:nvPr/>
        </p:nvSpPr>
        <p:spPr>
          <a:xfrm rot="0">
            <a:off x="8007701" y="6529328"/>
            <a:ext cx="3325647" cy="2844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199"/>
              </a:lnSpc>
            </a:pPr>
            <a:r>
              <a:rPr lang="en-US" sz="2199" spc="-109">
                <a:solidFill>
                  <a:srgbClr val="222220"/>
                </a:solidFill>
                <a:latin typeface="Inter Light"/>
                <a:ea typeface="Inter Light"/>
                <a:cs typeface="Inter Light"/>
                <a:sym typeface="Inter Light"/>
              </a:rPr>
              <a:t>frequency</a:t>
            </a:r>
          </a:p>
        </p:txBody>
      </p:sp>
      <p:sp>
        <p:nvSpPr>
          <p:cNvPr name="TextBox 55" id="55"/>
          <p:cNvSpPr txBox="true"/>
          <p:nvPr/>
        </p:nvSpPr>
        <p:spPr>
          <a:xfrm rot="0">
            <a:off x="8007701" y="7008026"/>
            <a:ext cx="3325647" cy="260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999"/>
              </a:lnSpc>
            </a:pPr>
            <a:r>
              <a:rPr lang="en-US" sz="1999" spc="-99">
                <a:solidFill>
                  <a:srgbClr val="222220"/>
                </a:solidFill>
                <a:latin typeface="Inter Light"/>
                <a:ea typeface="Inter Light"/>
                <a:cs typeface="Inter Light"/>
                <a:sym typeface="Inter Light"/>
              </a:rPr>
              <a:t>speech speed</a:t>
            </a:r>
          </a:p>
        </p:txBody>
      </p:sp>
      <p:sp>
        <p:nvSpPr>
          <p:cNvPr name="TextBox 56" id="56"/>
          <p:cNvSpPr txBox="true"/>
          <p:nvPr/>
        </p:nvSpPr>
        <p:spPr>
          <a:xfrm rot="0">
            <a:off x="7335256" y="4981709"/>
            <a:ext cx="3998091" cy="2950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533"/>
              </a:lnSpc>
              <a:spcBef>
                <a:spcPct val="0"/>
              </a:spcBef>
            </a:pPr>
            <a:r>
              <a:rPr lang="en-US" b="true" sz="1809" spc="36">
                <a:solidFill>
                  <a:srgbClr val="92A68D"/>
                </a:solidFill>
                <a:latin typeface="Nunito Sans Expanded Bold"/>
                <a:ea typeface="Nunito Sans Expanded Bold"/>
                <a:cs typeface="Nunito Sans Expanded Bold"/>
                <a:sym typeface="Nunito Sans Expanded Bold"/>
              </a:rPr>
              <a:t>SPEECH RECOGNITION</a:t>
            </a:r>
          </a:p>
        </p:txBody>
      </p:sp>
      <p:sp>
        <p:nvSpPr>
          <p:cNvPr name="TextBox 57" id="57"/>
          <p:cNvSpPr txBox="true"/>
          <p:nvPr/>
        </p:nvSpPr>
        <p:spPr>
          <a:xfrm rot="0">
            <a:off x="13666953" y="5680241"/>
            <a:ext cx="3325647" cy="2844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199"/>
              </a:lnSpc>
            </a:pPr>
            <a:r>
              <a:rPr lang="en-US" sz="2199" spc="-109">
                <a:solidFill>
                  <a:srgbClr val="222220"/>
                </a:solidFill>
                <a:latin typeface="Inter Light"/>
                <a:ea typeface="Inter Light"/>
                <a:cs typeface="Inter Light"/>
                <a:sym typeface="Inter Light"/>
              </a:rPr>
              <a:t>keywords in email</a:t>
            </a:r>
          </a:p>
        </p:txBody>
      </p:sp>
      <p:sp>
        <p:nvSpPr>
          <p:cNvPr name="TextBox 58" id="58"/>
          <p:cNvSpPr txBox="true"/>
          <p:nvPr/>
        </p:nvSpPr>
        <p:spPr>
          <a:xfrm rot="0">
            <a:off x="13666953" y="6080291"/>
            <a:ext cx="3325647" cy="2844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199"/>
              </a:lnSpc>
            </a:pPr>
            <a:r>
              <a:rPr lang="en-US" sz="2199" spc="-109">
                <a:solidFill>
                  <a:srgbClr val="222220"/>
                </a:solidFill>
                <a:latin typeface="Inter Light"/>
                <a:ea typeface="Inter Light"/>
                <a:cs typeface="Inter Light"/>
                <a:sym typeface="Inter Light"/>
              </a:rPr>
              <a:t>number of links</a:t>
            </a:r>
          </a:p>
        </p:txBody>
      </p:sp>
      <p:sp>
        <p:nvSpPr>
          <p:cNvPr name="TextBox 59" id="59"/>
          <p:cNvSpPr txBox="true"/>
          <p:nvPr/>
        </p:nvSpPr>
        <p:spPr>
          <a:xfrm rot="0">
            <a:off x="13666953" y="6480341"/>
            <a:ext cx="3325647" cy="2844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199"/>
              </a:lnSpc>
            </a:pPr>
            <a:r>
              <a:rPr lang="en-US" sz="2199" spc="-109">
                <a:solidFill>
                  <a:srgbClr val="222220"/>
                </a:solidFill>
                <a:latin typeface="Inter Light"/>
                <a:ea typeface="Inter Light"/>
                <a:cs typeface="Inter Light"/>
                <a:sym typeface="Inter Light"/>
              </a:rPr>
              <a:t>sender address</a:t>
            </a:r>
          </a:p>
        </p:txBody>
      </p:sp>
      <p:sp>
        <p:nvSpPr>
          <p:cNvPr name="TextBox 60" id="60"/>
          <p:cNvSpPr txBox="true"/>
          <p:nvPr/>
        </p:nvSpPr>
        <p:spPr>
          <a:xfrm rot="0">
            <a:off x="13666953" y="7029616"/>
            <a:ext cx="3325647" cy="2844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199"/>
              </a:lnSpc>
            </a:pPr>
            <a:r>
              <a:rPr lang="en-US" sz="2199" spc="-109">
                <a:solidFill>
                  <a:srgbClr val="222220"/>
                </a:solidFill>
                <a:latin typeface="Inter Light"/>
                <a:ea typeface="Inter Light"/>
                <a:cs typeface="Inter Light"/>
                <a:sym typeface="Inter Light"/>
              </a:rPr>
              <a:t>email length</a:t>
            </a:r>
          </a:p>
        </p:txBody>
      </p:sp>
      <p:sp>
        <p:nvSpPr>
          <p:cNvPr name="TextBox 61" id="61"/>
          <p:cNvSpPr txBox="true"/>
          <p:nvPr/>
        </p:nvSpPr>
        <p:spPr>
          <a:xfrm rot="0">
            <a:off x="8854678" y="685721"/>
            <a:ext cx="152400" cy="13335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 marL="0" indent="0" lvl="0">
              <a:lnSpc>
                <a:spcPts val="1400"/>
              </a:lnSpc>
              <a:spcBef>
                <a:spcPct val="0"/>
              </a:spcBef>
            </a:pPr>
            <a:r>
              <a:rPr lang="en-US" sz="1400" spc="-28" strike="noStrike" u="none">
                <a:solidFill>
                  <a:srgbClr val="222220"/>
                </a:solidFill>
                <a:latin typeface="Inter"/>
                <a:ea typeface="Inter"/>
                <a:cs typeface="Inter"/>
                <a:sym typeface="Inter"/>
              </a:rPr>
              <a:t>PAGE 3</a:t>
            </a:r>
          </a:p>
        </p:txBody>
      </p:sp>
      <p:sp>
        <p:nvSpPr>
          <p:cNvPr name="TextBox 62" id="62"/>
          <p:cNvSpPr txBox="true"/>
          <p:nvPr/>
        </p:nvSpPr>
        <p:spPr>
          <a:xfrm rot="0">
            <a:off x="589431" y="1835433"/>
            <a:ext cx="4765953" cy="13945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047"/>
              </a:lnSpc>
              <a:spcBef>
                <a:spcPct val="0"/>
              </a:spcBef>
            </a:pPr>
            <a:r>
              <a:rPr lang="en-US" b="true" sz="8981">
                <a:solidFill>
                  <a:srgbClr val="0E7658"/>
                </a:solidFill>
                <a:latin typeface="Inter Bold"/>
                <a:ea typeface="Inter Bold"/>
                <a:cs typeface="Inter Bold"/>
                <a:sym typeface="Inter Bold"/>
              </a:rPr>
              <a:t>Example</a:t>
            </a:r>
          </a:p>
        </p:txBody>
      </p:sp>
      <p:sp>
        <p:nvSpPr>
          <p:cNvPr name="TextBox 63" id="63"/>
          <p:cNvSpPr txBox="true"/>
          <p:nvPr/>
        </p:nvSpPr>
        <p:spPr>
          <a:xfrm rot="0">
            <a:off x="12869343" y="5054237"/>
            <a:ext cx="3998091" cy="2950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533"/>
              </a:lnSpc>
              <a:spcBef>
                <a:spcPct val="0"/>
              </a:spcBef>
            </a:pPr>
            <a:r>
              <a:rPr lang="en-US" b="true" sz="1809" spc="36">
                <a:solidFill>
                  <a:srgbClr val="92A68D"/>
                </a:solidFill>
                <a:latin typeface="Nunito Sans Expanded Bold"/>
                <a:ea typeface="Nunito Sans Expanded Bold"/>
                <a:cs typeface="Nunito Sans Expanded Bold"/>
                <a:sym typeface="Nunito Sans Expanded Bold"/>
              </a:rPr>
              <a:t>EMAIL SPAM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EF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4150183" y="1513465"/>
            <a:ext cx="3706916" cy="4426169"/>
          </a:xfrm>
          <a:custGeom>
            <a:avLst/>
            <a:gdLst/>
            <a:ahLst/>
            <a:cxnLst/>
            <a:rect r="r" b="b" t="t" l="l"/>
            <a:pathLst>
              <a:path h="4426169" w="3706916">
                <a:moveTo>
                  <a:pt x="0" y="0"/>
                </a:moveTo>
                <a:lnTo>
                  <a:pt x="3706917" y="0"/>
                </a:lnTo>
                <a:lnTo>
                  <a:pt x="3706917" y="4426169"/>
                </a:lnTo>
                <a:lnTo>
                  <a:pt x="0" y="442616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8854678" y="872728"/>
            <a:ext cx="152400" cy="13335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 marL="0" indent="0" lvl="0">
              <a:lnSpc>
                <a:spcPts val="1400"/>
              </a:lnSpc>
              <a:spcBef>
                <a:spcPct val="0"/>
              </a:spcBef>
            </a:pPr>
            <a:r>
              <a:rPr lang="en-US" sz="1400" spc="-28" strike="noStrike" u="none">
                <a:solidFill>
                  <a:srgbClr val="222220"/>
                </a:solidFill>
                <a:latin typeface="Inter"/>
                <a:ea typeface="Inter"/>
                <a:cs typeface="Inter"/>
                <a:sym typeface="Inter"/>
              </a:rPr>
              <a:t>PAGE 4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-423441" y="3627753"/>
            <a:ext cx="14083007" cy="47190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346"/>
              </a:lnSpc>
            </a:pPr>
          </a:p>
          <a:p>
            <a:pPr algn="ctr" rtl="true">
              <a:lnSpc>
                <a:spcPts val="5346"/>
              </a:lnSpc>
            </a:pPr>
          </a:p>
          <a:p>
            <a:pPr algn="ctr" rtl="true">
              <a:lnSpc>
                <a:spcPts val="5346"/>
              </a:lnSpc>
            </a:pPr>
            <a:r>
              <a:rPr lang="en-US" sz="5346" spc="-267">
                <a:solidFill>
                  <a:srgbClr val="222220"/>
                </a:solidFill>
                <a:latin typeface="Inter Light"/>
                <a:ea typeface="Inter Light"/>
                <a:cs typeface="Inter Light"/>
                <a:sym typeface="Inter Light"/>
              </a:rPr>
              <a:t>Provide information to the model</a:t>
            </a:r>
          </a:p>
          <a:p>
            <a:pPr algn="ctr" rtl="true">
              <a:lnSpc>
                <a:spcPts val="5346"/>
              </a:lnSpc>
            </a:pPr>
          </a:p>
          <a:p>
            <a:pPr algn="ctr" rtl="true">
              <a:lnSpc>
                <a:spcPts val="5346"/>
              </a:lnSpc>
            </a:pPr>
            <a:r>
              <a:rPr lang="en-US" sz="5346" spc="-267">
                <a:solidFill>
                  <a:srgbClr val="222220"/>
                </a:solidFill>
                <a:latin typeface="Inter Light"/>
                <a:ea typeface="Inter Light"/>
                <a:cs typeface="Inter Light"/>
                <a:sym typeface="Inter Light"/>
              </a:rPr>
              <a:t>Improve learning and accuracy</a:t>
            </a:r>
          </a:p>
          <a:p>
            <a:pPr algn="ctr" rtl="true">
              <a:lnSpc>
                <a:spcPts val="5346"/>
              </a:lnSpc>
            </a:pPr>
          </a:p>
          <a:p>
            <a:pPr algn="ctr" rtl="true">
              <a:lnSpc>
                <a:spcPts val="5346"/>
              </a:lnSpc>
              <a:spcBef>
                <a:spcPct val="0"/>
              </a:spcBef>
            </a:pPr>
            <a:r>
              <a:rPr lang="ar-EG" sz="5346" spc="-267">
                <a:solidFill>
                  <a:srgbClr val="222220"/>
                </a:solidFill>
                <a:latin typeface="Inter Light"/>
                <a:ea typeface="Inter Light"/>
                <a:cs typeface="Inter Light"/>
                <a:sym typeface="Inter Light"/>
                <a:rtl val="true"/>
              </a:rPr>
              <a:t> </a:t>
            </a:r>
            <a:r>
              <a:rPr lang="en-US" sz="5346" spc="-267">
                <a:solidFill>
                  <a:srgbClr val="222220"/>
                </a:solidFill>
                <a:latin typeface="Inter Light"/>
                <a:ea typeface="Inter Light"/>
                <a:cs typeface="Inter Light"/>
                <a:sym typeface="Inter Light"/>
              </a:rPr>
              <a:t>Directly affect model performance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770047" y="2408231"/>
            <a:ext cx="9401056" cy="11287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437"/>
              </a:lnSpc>
              <a:spcBef>
                <a:spcPct val="0"/>
              </a:spcBef>
            </a:pPr>
            <a:r>
              <a:rPr lang="en-US" b="true" sz="8437" spc="-421">
                <a:solidFill>
                  <a:srgbClr val="0D8361"/>
                </a:solidFill>
                <a:latin typeface="Inter Bold"/>
                <a:ea typeface="Inter Bold"/>
                <a:cs typeface="Inter Bold"/>
                <a:sym typeface="Inter Bold"/>
              </a:rPr>
              <a:t>RULE OF FEATURES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EF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47616" y="4236810"/>
            <a:ext cx="6772531" cy="5676565"/>
            <a:chOff x="0" y="0"/>
            <a:chExt cx="1783712" cy="149506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783712" cy="1495062"/>
            </a:xfrm>
            <a:custGeom>
              <a:avLst/>
              <a:gdLst/>
              <a:ahLst/>
              <a:cxnLst/>
              <a:rect r="r" b="b" t="t" l="l"/>
              <a:pathLst>
                <a:path h="1495062" w="1783712">
                  <a:moveTo>
                    <a:pt x="0" y="0"/>
                  </a:moveTo>
                  <a:lnTo>
                    <a:pt x="1783712" y="0"/>
                  </a:lnTo>
                  <a:lnTo>
                    <a:pt x="1783712" y="1495062"/>
                  </a:lnTo>
                  <a:lnTo>
                    <a:pt x="0" y="1495062"/>
                  </a:lnTo>
                  <a:close/>
                </a:path>
              </a:pathLst>
            </a:custGeom>
            <a:solidFill>
              <a:srgbClr val="CDCDC9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19050"/>
              <a:ext cx="1783712" cy="147601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40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0862977" y="4236810"/>
            <a:ext cx="6772531" cy="5676565"/>
            <a:chOff x="0" y="0"/>
            <a:chExt cx="1783712" cy="149506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783712" cy="1495062"/>
            </a:xfrm>
            <a:custGeom>
              <a:avLst/>
              <a:gdLst/>
              <a:ahLst/>
              <a:cxnLst/>
              <a:rect r="r" b="b" t="t" l="l"/>
              <a:pathLst>
                <a:path h="1495062" w="1783712">
                  <a:moveTo>
                    <a:pt x="0" y="0"/>
                  </a:moveTo>
                  <a:lnTo>
                    <a:pt x="1783712" y="0"/>
                  </a:lnTo>
                  <a:lnTo>
                    <a:pt x="1783712" y="1495062"/>
                  </a:lnTo>
                  <a:lnTo>
                    <a:pt x="0" y="1495062"/>
                  </a:lnTo>
                  <a:close/>
                </a:path>
              </a:pathLst>
            </a:custGeom>
            <a:solidFill>
              <a:srgbClr val="CDCDC9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19050"/>
              <a:ext cx="1783712" cy="147601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400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1887739" y="1676686"/>
            <a:ext cx="2532521" cy="2560124"/>
          </a:xfrm>
          <a:custGeom>
            <a:avLst/>
            <a:gdLst/>
            <a:ahLst/>
            <a:cxnLst/>
            <a:rect r="r" b="b" t="t" l="l"/>
            <a:pathLst>
              <a:path h="2560124" w="2532521">
                <a:moveTo>
                  <a:pt x="0" y="0"/>
                </a:moveTo>
                <a:lnTo>
                  <a:pt x="2532521" y="0"/>
                </a:lnTo>
                <a:lnTo>
                  <a:pt x="2532521" y="2560124"/>
                </a:lnTo>
                <a:lnTo>
                  <a:pt x="0" y="256012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4786108" y="1716359"/>
            <a:ext cx="2275362" cy="2318840"/>
          </a:xfrm>
          <a:custGeom>
            <a:avLst/>
            <a:gdLst/>
            <a:ahLst/>
            <a:cxnLst/>
            <a:rect r="r" b="b" t="t" l="l"/>
            <a:pathLst>
              <a:path h="2318840" w="2275362">
                <a:moveTo>
                  <a:pt x="0" y="0"/>
                </a:moveTo>
                <a:lnTo>
                  <a:pt x="2275362" y="0"/>
                </a:lnTo>
                <a:lnTo>
                  <a:pt x="2275362" y="2318841"/>
                </a:lnTo>
                <a:lnTo>
                  <a:pt x="0" y="231884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7987724" y="4914296"/>
            <a:ext cx="2343628" cy="4114800"/>
          </a:xfrm>
          <a:custGeom>
            <a:avLst/>
            <a:gdLst/>
            <a:ahLst/>
            <a:cxnLst/>
            <a:rect r="r" b="b" t="t" l="l"/>
            <a:pathLst>
              <a:path h="4114800" w="2343628">
                <a:moveTo>
                  <a:pt x="0" y="0"/>
                </a:moveTo>
                <a:lnTo>
                  <a:pt x="2343628" y="0"/>
                </a:lnTo>
                <a:lnTo>
                  <a:pt x="234362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8854678" y="872728"/>
            <a:ext cx="152400" cy="13335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 marL="0" indent="0" lvl="0">
              <a:lnSpc>
                <a:spcPts val="1400"/>
              </a:lnSpc>
              <a:spcBef>
                <a:spcPct val="0"/>
              </a:spcBef>
            </a:pPr>
            <a:r>
              <a:rPr lang="en-US" sz="1400" spc="-28" strike="noStrike" u="none">
                <a:solidFill>
                  <a:srgbClr val="222220"/>
                </a:solidFill>
                <a:latin typeface="Inter"/>
                <a:ea typeface="Inter"/>
                <a:cs typeface="Inter"/>
                <a:sym typeface="Inter"/>
              </a:rPr>
              <a:t>PAGE 5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5308125" y="1441768"/>
            <a:ext cx="8941118" cy="15091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791"/>
              </a:lnSpc>
            </a:pPr>
            <a:r>
              <a:rPr lang="en-US" sz="5791" spc="-115">
                <a:solidFill>
                  <a:srgbClr val="0D8361"/>
                </a:solidFill>
                <a:latin typeface="Inter"/>
                <a:ea typeface="Inter"/>
                <a:cs typeface="Inter"/>
                <a:sym typeface="Inter"/>
              </a:rPr>
              <a:t>THE IMPACT OF FEATURE </a:t>
            </a:r>
          </a:p>
          <a:p>
            <a:pPr algn="ctr">
              <a:lnSpc>
                <a:spcPts val="5791"/>
              </a:lnSpc>
              <a:spcBef>
                <a:spcPct val="0"/>
              </a:spcBef>
            </a:pPr>
            <a:r>
              <a:rPr lang="en-US" sz="5791" spc="-115">
                <a:solidFill>
                  <a:srgbClr val="0D8361"/>
                </a:solidFill>
                <a:latin typeface="Inter"/>
                <a:ea typeface="Inter"/>
                <a:cs typeface="Inter"/>
                <a:sym typeface="Inter"/>
              </a:rPr>
              <a:t>QUALITY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869349" y="4971446"/>
            <a:ext cx="5703916" cy="4012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657971" indent="-328985" lvl="1">
              <a:lnSpc>
                <a:spcPts val="3047"/>
              </a:lnSpc>
              <a:buFont typeface="Arial"/>
              <a:buChar char="•"/>
            </a:pPr>
            <a:r>
              <a:rPr lang="en-US" sz="3047" spc="-6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FASTER TRAINING TIMES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869349" y="5761937"/>
            <a:ext cx="5703916" cy="3424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563172" indent="-281586" lvl="1">
              <a:lnSpc>
                <a:spcPts val="2608"/>
              </a:lnSpc>
              <a:buFont typeface="Arial"/>
              <a:buChar char="•"/>
            </a:pPr>
            <a:r>
              <a:rPr lang="en-US" sz="2608" spc="-52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IMPROVED MODEL ACCURACY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028700" y="6709350"/>
            <a:ext cx="5814782" cy="6864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572588" indent="-286294" lvl="1">
              <a:lnSpc>
                <a:spcPts val="2652"/>
              </a:lnSpc>
              <a:buFont typeface="Arial"/>
              <a:buChar char="•"/>
            </a:pPr>
            <a:r>
              <a:rPr lang="en-US" sz="2652" spc="-53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BETTER INTERPRETABILITY OF RESULTS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813916" y="8000771"/>
            <a:ext cx="6029566" cy="3542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582104" indent="-291052" lvl="1">
              <a:lnSpc>
                <a:spcPts val="2696"/>
              </a:lnSpc>
              <a:buFont typeface="Arial"/>
              <a:buChar char="•"/>
            </a:pPr>
            <a:r>
              <a:rPr lang="en-US" sz="2696" spc="-53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REDUCED RISK OF OVERFITING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1209252" y="5117582"/>
            <a:ext cx="5086083" cy="7079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593203" indent="-296601" lvl="1">
              <a:lnSpc>
                <a:spcPts val="2747"/>
              </a:lnSpc>
              <a:buFont typeface="Arial"/>
              <a:buChar char="•"/>
            </a:pPr>
            <a:r>
              <a:rPr lang="en-US" sz="2747" spc="-54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SLOWER TRAINING AND  COVERGENCE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1209252" y="6250942"/>
            <a:ext cx="5280474" cy="7295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614792" indent="-307396" lvl="1">
              <a:lnSpc>
                <a:spcPts val="2847"/>
              </a:lnSpc>
              <a:buFont typeface="Arial"/>
              <a:buChar char="•"/>
            </a:pPr>
            <a:r>
              <a:rPr lang="en-US" sz="2847" spc="-56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DECREASED PREDICTION ACCURANCY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1209252" y="7953745"/>
            <a:ext cx="5703916" cy="7822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657971" indent="-328985" lvl="1">
              <a:lnSpc>
                <a:spcPts val="3047"/>
              </a:lnSpc>
              <a:buFont typeface="Arial"/>
              <a:buChar char="•"/>
            </a:pPr>
            <a:r>
              <a:rPr lang="en-US" sz="3047" spc="-6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INCREASED POTENTIAL FOR BAIS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EF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3470108" y="4199543"/>
            <a:ext cx="3596316" cy="5058757"/>
          </a:xfrm>
          <a:custGeom>
            <a:avLst/>
            <a:gdLst/>
            <a:ahLst/>
            <a:cxnLst/>
            <a:rect r="r" b="b" t="t" l="l"/>
            <a:pathLst>
              <a:path h="5058757" w="3596316">
                <a:moveTo>
                  <a:pt x="0" y="0"/>
                </a:moveTo>
                <a:lnTo>
                  <a:pt x="3596316" y="0"/>
                </a:lnTo>
                <a:lnTo>
                  <a:pt x="3596316" y="5058757"/>
                </a:lnTo>
                <a:lnTo>
                  <a:pt x="0" y="505875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8854678" y="872728"/>
            <a:ext cx="152400" cy="13335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 marL="0" indent="0" lvl="0">
              <a:lnSpc>
                <a:spcPts val="1400"/>
              </a:lnSpc>
              <a:spcBef>
                <a:spcPct val="0"/>
              </a:spcBef>
            </a:pPr>
            <a:r>
              <a:rPr lang="en-US" sz="1400" spc="-28" strike="noStrike" u="none">
                <a:solidFill>
                  <a:srgbClr val="222220"/>
                </a:solidFill>
                <a:latin typeface="Inter"/>
                <a:ea typeface="Inter"/>
                <a:cs typeface="Inter"/>
                <a:sym typeface="Inter"/>
              </a:rPr>
              <a:t>PAGE 6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2516843" y="2148938"/>
            <a:ext cx="13876936" cy="14350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rtl="true">
              <a:lnSpc>
                <a:spcPts val="10746"/>
              </a:lnSpc>
              <a:spcBef>
                <a:spcPct val="0"/>
              </a:spcBef>
            </a:pPr>
            <a:r>
              <a:rPr lang="ar-EG" b="true" sz="10746" spc="-537">
                <a:solidFill>
                  <a:srgbClr val="0E7658"/>
                </a:solidFill>
                <a:latin typeface="Inter Bold"/>
                <a:ea typeface="Inter Bold"/>
                <a:cs typeface="Inter Bold"/>
                <a:sym typeface="Inter Bold"/>
                <a:rtl val="true"/>
              </a:rPr>
              <a:t>?</a:t>
            </a:r>
            <a:r>
              <a:rPr lang="en-US" b="true" sz="10746" spc="-537">
                <a:solidFill>
                  <a:srgbClr val="0E7658"/>
                </a:solidFill>
                <a:latin typeface="Inter Bold"/>
                <a:ea typeface="Inter Bold"/>
                <a:cs typeface="Inter Bold"/>
                <a:sym typeface="Inter Bold"/>
              </a:rPr>
              <a:t>WHAT IS A MODEL</a:t>
            </a:r>
            <a:r>
              <a:rPr lang="ar-EG" b="true" sz="10746" spc="-537">
                <a:solidFill>
                  <a:srgbClr val="0E7658"/>
                </a:solidFill>
                <a:latin typeface="Inter Bold"/>
                <a:ea typeface="Inter Bold"/>
                <a:cs typeface="Inter Bold"/>
                <a:sym typeface="Inter Bold"/>
                <a:rtl val="true"/>
              </a:rPr>
              <a:t> 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543226" y="4970617"/>
            <a:ext cx="12168567" cy="17633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544"/>
              </a:lnSpc>
            </a:pPr>
            <a:r>
              <a:rPr lang="en-US" sz="4544" spc="-227">
                <a:solidFill>
                  <a:srgbClr val="222220"/>
                </a:solidFill>
                <a:latin typeface="Inter"/>
                <a:ea typeface="Inter"/>
                <a:cs typeface="Inter"/>
                <a:sym typeface="Inter"/>
              </a:rPr>
              <a:t>A MODEL LEARNS FROM FEATURES</a:t>
            </a:r>
          </a:p>
          <a:p>
            <a:pPr algn="ctr">
              <a:lnSpc>
                <a:spcPts val="4544"/>
              </a:lnSpc>
            </a:pPr>
          </a:p>
          <a:p>
            <a:pPr algn="ctr">
              <a:lnSpc>
                <a:spcPts val="4544"/>
              </a:lnSpc>
              <a:spcBef>
                <a:spcPct val="0"/>
              </a:spcBef>
            </a:pPr>
            <a:r>
              <a:rPr lang="en-US" sz="4544" spc="-227">
                <a:solidFill>
                  <a:srgbClr val="222220"/>
                </a:solidFill>
                <a:latin typeface="Inter"/>
                <a:ea typeface="Inter"/>
                <a:cs typeface="Inter"/>
                <a:sym typeface="Inter"/>
              </a:rPr>
              <a:t> TO MAKE PREDICTIONS OR DECISIONS.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EF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2746209" y="3512073"/>
            <a:ext cx="4513091" cy="4973103"/>
          </a:xfrm>
          <a:custGeom>
            <a:avLst/>
            <a:gdLst/>
            <a:ahLst/>
            <a:cxnLst/>
            <a:rect r="r" b="b" t="t" l="l"/>
            <a:pathLst>
              <a:path h="4973103" w="4513091">
                <a:moveTo>
                  <a:pt x="0" y="0"/>
                </a:moveTo>
                <a:lnTo>
                  <a:pt x="4513091" y="0"/>
                </a:lnTo>
                <a:lnTo>
                  <a:pt x="4513091" y="4973103"/>
                </a:lnTo>
                <a:lnTo>
                  <a:pt x="0" y="497310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8854678" y="872728"/>
            <a:ext cx="152400" cy="13335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 marL="0" indent="0" lvl="0">
              <a:lnSpc>
                <a:spcPts val="1400"/>
              </a:lnSpc>
              <a:spcBef>
                <a:spcPct val="0"/>
              </a:spcBef>
            </a:pPr>
            <a:r>
              <a:rPr lang="en-US" sz="1400" spc="-28" strike="noStrike" u="none">
                <a:solidFill>
                  <a:srgbClr val="222220"/>
                </a:solidFill>
                <a:latin typeface="Inter"/>
                <a:ea typeface="Inter"/>
                <a:cs typeface="Inter"/>
                <a:sym typeface="Inter"/>
              </a:rPr>
              <a:t>PAGE 7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2121337" y="1658028"/>
            <a:ext cx="14077712" cy="11897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965"/>
              </a:lnSpc>
              <a:spcBef>
                <a:spcPct val="0"/>
              </a:spcBef>
            </a:pPr>
            <a:r>
              <a:rPr lang="en-US" b="true" sz="8965" spc="-179">
                <a:solidFill>
                  <a:srgbClr val="0D8361"/>
                </a:solidFill>
                <a:latin typeface="Inter Bold"/>
                <a:ea typeface="Inter Bold"/>
                <a:cs typeface="Inter Bold"/>
                <a:sym typeface="Inter Bold"/>
              </a:rPr>
              <a:t>WHY DO WE USE MODEL?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281450" y="4288190"/>
            <a:ext cx="10638116" cy="6482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98"/>
              </a:lnSpc>
              <a:spcBef>
                <a:spcPct val="0"/>
              </a:spcBef>
            </a:pPr>
            <a:r>
              <a:rPr lang="en-US" sz="4898" spc="-97">
                <a:solidFill>
                  <a:srgbClr val="222220"/>
                </a:solidFill>
                <a:latin typeface="Inter"/>
                <a:ea typeface="Inter"/>
                <a:cs typeface="Inter"/>
                <a:sym typeface="Inter"/>
              </a:rPr>
              <a:t>TO MAKE COMPLEX SYSTEM EASIER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281450" y="5649142"/>
            <a:ext cx="5979676" cy="6585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28"/>
              </a:lnSpc>
              <a:spcBef>
                <a:spcPct val="0"/>
              </a:spcBef>
            </a:pPr>
            <a:r>
              <a:rPr lang="en-US" sz="4928" spc="-98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TO REDUCE ERRORS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-174358" y="7022105"/>
            <a:ext cx="10919566" cy="12198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49"/>
              </a:lnSpc>
              <a:spcBef>
                <a:spcPct val="0"/>
              </a:spcBef>
            </a:pPr>
            <a:r>
              <a:rPr lang="en-US" sz="4749" spc="-94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TO PREDUIT RESULTS BEFORE REAL IMMPLEMENTATION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EF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3245933" y="4010240"/>
            <a:ext cx="4420195" cy="4114800"/>
          </a:xfrm>
          <a:custGeom>
            <a:avLst/>
            <a:gdLst/>
            <a:ahLst/>
            <a:cxnLst/>
            <a:rect r="r" b="b" t="t" l="l"/>
            <a:pathLst>
              <a:path h="4114800" w="4420195">
                <a:moveTo>
                  <a:pt x="0" y="0"/>
                </a:moveTo>
                <a:lnTo>
                  <a:pt x="4420195" y="0"/>
                </a:lnTo>
                <a:lnTo>
                  <a:pt x="4420195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8854678" y="872728"/>
            <a:ext cx="152400" cy="13335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 marL="0" indent="0" lvl="0">
              <a:lnSpc>
                <a:spcPts val="1400"/>
              </a:lnSpc>
              <a:spcBef>
                <a:spcPct val="0"/>
              </a:spcBef>
            </a:pPr>
            <a:r>
              <a:rPr lang="en-US" sz="1400" spc="-28" strike="noStrike" u="none">
                <a:solidFill>
                  <a:srgbClr val="222220"/>
                </a:solidFill>
                <a:latin typeface="Inter"/>
                <a:ea typeface="Inter"/>
                <a:cs typeface="Inter"/>
                <a:sym typeface="Inter"/>
              </a:rPr>
              <a:t>PAGE 8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3763923" y="2099424"/>
            <a:ext cx="10760155" cy="6356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75"/>
              </a:lnSpc>
              <a:spcBef>
                <a:spcPct val="0"/>
              </a:spcBef>
            </a:pPr>
            <a:r>
              <a:rPr lang="en-US" b="true" sz="4775" spc="-95">
                <a:solidFill>
                  <a:srgbClr val="007152"/>
                </a:solidFill>
                <a:latin typeface="Inter Bold"/>
                <a:ea typeface="Inter Bold"/>
                <a:cs typeface="Inter Bold"/>
                <a:sym typeface="Inter Bold"/>
              </a:rPr>
              <a:t>CHARACTERISTICS OF GOOD MODEL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-348716" y="3985896"/>
            <a:ext cx="10747710" cy="5422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99"/>
              </a:lnSpc>
              <a:spcBef>
                <a:spcPct val="0"/>
              </a:spcBef>
            </a:pPr>
            <a:r>
              <a:rPr lang="en-US" sz="4099" spc="-81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SIMPLE AND EASY TO UNDERSTAND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343138" y="5219700"/>
            <a:ext cx="8854678" cy="5422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99"/>
              </a:lnSpc>
              <a:spcBef>
                <a:spcPct val="0"/>
              </a:spcBef>
            </a:pPr>
            <a:r>
              <a:rPr lang="en-US" sz="4099" spc="-81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CAN BE UPDATED OR IMPROVED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-348716" y="6463029"/>
            <a:ext cx="11494960" cy="5664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99"/>
              </a:lnSpc>
              <a:spcBef>
                <a:spcPct val="0"/>
              </a:spcBef>
            </a:pPr>
            <a:r>
              <a:rPr lang="en-US" sz="4299" spc="-85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REPRESENTS REALITY ACCURATELY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EF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39299" y="4857123"/>
            <a:ext cx="4675909" cy="4114800"/>
          </a:xfrm>
          <a:custGeom>
            <a:avLst/>
            <a:gdLst/>
            <a:ahLst/>
            <a:cxnLst/>
            <a:rect r="r" b="b" t="t" l="l"/>
            <a:pathLst>
              <a:path h="4114800" w="4675909">
                <a:moveTo>
                  <a:pt x="0" y="0"/>
                </a:moveTo>
                <a:lnTo>
                  <a:pt x="4675909" y="0"/>
                </a:lnTo>
                <a:lnTo>
                  <a:pt x="4675909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6645182" y="5314021"/>
            <a:ext cx="4212062" cy="3657901"/>
          </a:xfrm>
          <a:custGeom>
            <a:avLst/>
            <a:gdLst/>
            <a:ahLst/>
            <a:cxnLst/>
            <a:rect r="r" b="b" t="t" l="l"/>
            <a:pathLst>
              <a:path h="3657901" w="4212062">
                <a:moveTo>
                  <a:pt x="0" y="0"/>
                </a:moveTo>
                <a:lnTo>
                  <a:pt x="4212062" y="0"/>
                </a:lnTo>
                <a:lnTo>
                  <a:pt x="4212062" y="3657902"/>
                </a:lnTo>
                <a:lnTo>
                  <a:pt x="0" y="365790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665" r="0" b="-665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2955371" y="5319180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8854678" y="872728"/>
            <a:ext cx="152400" cy="13335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 marL="0" indent="0" lvl="0">
              <a:lnSpc>
                <a:spcPts val="1400"/>
              </a:lnSpc>
              <a:spcBef>
                <a:spcPct val="0"/>
              </a:spcBef>
            </a:pPr>
            <a:r>
              <a:rPr lang="en-US" sz="1400" spc="-28" strike="noStrike" u="none">
                <a:solidFill>
                  <a:srgbClr val="222220"/>
                </a:solidFill>
                <a:latin typeface="Inter"/>
                <a:ea typeface="Inter"/>
                <a:cs typeface="Inter"/>
                <a:sym typeface="Inter"/>
              </a:rPr>
              <a:t>PAGE 9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284625" y="1516059"/>
            <a:ext cx="6360557" cy="7397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499"/>
              </a:lnSpc>
              <a:spcBef>
                <a:spcPct val="0"/>
              </a:spcBef>
            </a:pPr>
            <a:r>
              <a:rPr lang="en-US" b="true" sz="5499" spc="-109">
                <a:solidFill>
                  <a:srgbClr val="0E7658"/>
                </a:solidFill>
                <a:latin typeface="Inter Bold"/>
                <a:ea typeface="Inter Bold"/>
                <a:cs typeface="Inter Bold"/>
                <a:sym typeface="Inter Bold"/>
              </a:rPr>
              <a:t>TYPES OF MODELS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899952" y="3845871"/>
            <a:ext cx="2532102" cy="5543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99"/>
              </a:lnSpc>
              <a:spcBef>
                <a:spcPct val="0"/>
              </a:spcBef>
            </a:pPr>
            <a:r>
              <a:rPr lang="en-US" sz="4199" spc="-83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PHYSICAL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6073735" y="3857936"/>
            <a:ext cx="4795480" cy="5422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99"/>
              </a:lnSpc>
              <a:spcBef>
                <a:spcPct val="0"/>
              </a:spcBef>
            </a:pPr>
            <a:r>
              <a:rPr lang="en-US" sz="4099" spc="-81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COMPUTER MODEL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1676650" y="3857936"/>
            <a:ext cx="5900261" cy="5422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99"/>
              </a:lnSpc>
              <a:spcBef>
                <a:spcPct val="0"/>
              </a:spcBef>
            </a:pPr>
            <a:r>
              <a:rPr lang="en-US" sz="4099" spc="-81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MATHEMATICAL MODEL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EF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2107525" y="1592688"/>
            <a:ext cx="5151775" cy="3072331"/>
          </a:xfrm>
          <a:custGeom>
            <a:avLst/>
            <a:gdLst/>
            <a:ahLst/>
            <a:cxnLst/>
            <a:rect r="r" b="b" t="t" l="l"/>
            <a:pathLst>
              <a:path h="3072331" w="5151775">
                <a:moveTo>
                  <a:pt x="0" y="0"/>
                </a:moveTo>
                <a:lnTo>
                  <a:pt x="5151775" y="0"/>
                </a:lnTo>
                <a:lnTo>
                  <a:pt x="5151775" y="3072332"/>
                </a:lnTo>
                <a:lnTo>
                  <a:pt x="0" y="307233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8854678" y="872728"/>
            <a:ext cx="152400" cy="13335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 marL="0" indent="0" lvl="0">
              <a:lnSpc>
                <a:spcPts val="1400"/>
              </a:lnSpc>
              <a:spcBef>
                <a:spcPct val="0"/>
              </a:spcBef>
            </a:pPr>
            <a:r>
              <a:rPr lang="en-US" sz="1400" spc="-28" strike="noStrike" u="none">
                <a:solidFill>
                  <a:srgbClr val="222220"/>
                </a:solidFill>
                <a:latin typeface="Inter"/>
                <a:ea typeface="Inter"/>
                <a:cs typeface="Inter"/>
                <a:sym typeface="Inter"/>
              </a:rPr>
              <a:t>PAGE 10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279559" y="1802238"/>
            <a:ext cx="9260443" cy="15520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603"/>
              </a:lnSpc>
              <a:spcBef>
                <a:spcPct val="0"/>
              </a:spcBef>
            </a:pPr>
            <a:r>
              <a:rPr lang="en-US" b="true" sz="11603" spc="-580">
                <a:solidFill>
                  <a:srgbClr val="0E7658"/>
                </a:solidFill>
                <a:latin typeface="Inter Bold"/>
                <a:ea typeface="Inter Bold"/>
                <a:cs typeface="Inter Bold"/>
                <a:sym typeface="Inter Bold"/>
              </a:rPr>
              <a:t>CONCLUTION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0" y="5238750"/>
            <a:ext cx="12608553" cy="34216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336"/>
              </a:lnSpc>
            </a:pPr>
            <a:r>
              <a:rPr lang="en-US" sz="5336" spc="-266">
                <a:solidFill>
                  <a:srgbClr val="222220"/>
                </a:solidFill>
                <a:latin typeface="Inter Light"/>
                <a:ea typeface="Inter Light"/>
                <a:cs typeface="Inter Light"/>
                <a:sym typeface="Inter Light"/>
              </a:rPr>
              <a:t>FEATURES ARE THE FOUNDATION OF </a:t>
            </a:r>
          </a:p>
          <a:p>
            <a:pPr algn="ctr">
              <a:lnSpc>
                <a:spcPts val="5336"/>
              </a:lnSpc>
            </a:pPr>
            <a:r>
              <a:rPr lang="en-US" sz="5336" spc="-266">
                <a:solidFill>
                  <a:srgbClr val="222220"/>
                </a:solidFill>
                <a:latin typeface="Inter Light"/>
                <a:ea typeface="Inter Light"/>
                <a:cs typeface="Inter Light"/>
                <a:sym typeface="Inter Light"/>
              </a:rPr>
              <a:t>ANY MODEL.</a:t>
            </a:r>
          </a:p>
          <a:p>
            <a:pPr algn="ctr">
              <a:lnSpc>
                <a:spcPts val="5336"/>
              </a:lnSpc>
            </a:pPr>
          </a:p>
          <a:p>
            <a:pPr algn="ctr" rtl="true">
              <a:lnSpc>
                <a:spcPts val="5336"/>
              </a:lnSpc>
              <a:spcBef>
                <a:spcPct val="0"/>
              </a:spcBef>
            </a:pPr>
            <a:r>
              <a:rPr lang="en-US" sz="5336" spc="-266">
                <a:solidFill>
                  <a:srgbClr val="222220"/>
                </a:solidFill>
                <a:latin typeface="Inter Light"/>
                <a:ea typeface="Inter Light"/>
                <a:cs typeface="Inter Light"/>
                <a:sym typeface="Inter Light"/>
              </a:rPr>
              <a:t>Better features lead to better results</a:t>
            </a:r>
            <a:r>
              <a:rPr lang="ar-EG" sz="5336" spc="-266">
                <a:solidFill>
                  <a:srgbClr val="222220"/>
                </a:solidFill>
                <a:latin typeface="Inter Light"/>
                <a:ea typeface="Inter Light"/>
                <a:cs typeface="Inter Light"/>
                <a:sym typeface="Inter Light"/>
                <a:rtl val="true"/>
              </a:rPr>
              <a:t>.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EF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3408133" y="1331874"/>
            <a:ext cx="2520315" cy="8229600"/>
          </a:xfrm>
          <a:custGeom>
            <a:avLst/>
            <a:gdLst/>
            <a:ahLst/>
            <a:cxnLst/>
            <a:rect r="r" b="b" t="t" l="l"/>
            <a:pathLst>
              <a:path h="8229600" w="2520315">
                <a:moveTo>
                  <a:pt x="0" y="0"/>
                </a:moveTo>
                <a:lnTo>
                  <a:pt x="2520315" y="0"/>
                </a:lnTo>
                <a:lnTo>
                  <a:pt x="2520315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8854678" y="872728"/>
            <a:ext cx="152400" cy="13335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 marL="0" indent="0" lvl="0">
              <a:lnSpc>
                <a:spcPts val="1400"/>
              </a:lnSpc>
              <a:spcBef>
                <a:spcPct val="0"/>
              </a:spcBef>
            </a:pPr>
            <a:r>
              <a:rPr lang="en-US" sz="1400" spc="-28" strike="noStrike" u="none">
                <a:solidFill>
                  <a:srgbClr val="222220"/>
                </a:solidFill>
                <a:latin typeface="Inter"/>
                <a:ea typeface="Inter"/>
                <a:cs typeface="Inter"/>
                <a:sym typeface="Inter"/>
              </a:rPr>
              <a:t>PAGE 11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2784868" y="4746705"/>
            <a:ext cx="9549155" cy="2299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7738"/>
              </a:lnSpc>
              <a:spcBef>
                <a:spcPct val="0"/>
              </a:spcBef>
            </a:pPr>
            <a:r>
              <a:rPr lang="en-US" sz="17738" spc="-354">
                <a:solidFill>
                  <a:srgbClr val="0E7658"/>
                </a:solidFill>
                <a:latin typeface="Inter"/>
                <a:ea typeface="Inter"/>
                <a:cs typeface="Inter"/>
                <a:sym typeface="Inter"/>
              </a:rPr>
              <a:t>THANKS!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DAG7lclKVI0</dc:identifier>
  <dcterms:modified xsi:type="dcterms:W3CDTF">2011-08-01T06:04:30Z</dcterms:modified>
  <cp:revision>1</cp:revision>
  <dc:title>Beige Minimalist Social Media Monthly Content Calendar Presentation</dc:title>
</cp:coreProperties>
</file>