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Merriweather"/>
      <p:regular r:id="rId17"/>
    </p:embeddedFont>
    <p:embeddedFont>
      <p:font typeface="Merriweather"/>
      <p:regular r:id="rId18"/>
    </p:embeddedFont>
    <p:embeddedFont>
      <p:font typeface="Merriweather"/>
      <p:regular r:id="rId19"/>
    </p:embeddedFont>
    <p:embeddedFont>
      <p:font typeface="Merriweather"/>
      <p:regular r:id="rId20"/>
    </p:embeddedFont>
    <p:embeddedFont>
      <p:font typeface="Merriweather"/>
      <p:regular r:id="rId21"/>
    </p:embeddedFont>
    <p:embeddedFont>
      <p:font typeface="Merriweather"/>
      <p:regular r:id="rId22"/>
    </p:embeddedFont>
    <p:embeddedFont>
      <p:font typeface="Merriweather"/>
      <p:regular r:id="rId23"/>
    </p:embeddedFont>
    <p:embeddedFont>
      <p:font typeface="Merriweath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9151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slideLayout" Target="../slideLayouts/slideLayout9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10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960965"/>
            <a:ext cx="7416403" cy="1542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Artificial Intelligence: Today's Reality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863798" y="4873704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It's not just the future; it's already shaping our world.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4149" y="820936"/>
            <a:ext cx="7515701" cy="1453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00"/>
              </a:lnSpc>
              <a:buNone/>
            </a:pPr>
            <a:r>
              <a:rPr lang="en-US" sz="4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Artificial Intelligence</a:t>
            </a:r>
            <a:endParaRPr lang="en-US" sz="4550" dirty="0"/>
          </a:p>
        </p:txBody>
      </p:sp>
      <p:sp>
        <p:nvSpPr>
          <p:cNvPr id="4" name="Text 1"/>
          <p:cNvSpPr/>
          <p:nvPr/>
        </p:nvSpPr>
        <p:spPr>
          <a:xfrm>
            <a:off x="814149" y="2623542"/>
            <a:ext cx="7515701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At its core, </a:t>
            </a:r>
            <a:pPr algn="l" indent="0" marL="0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Artificial Intelligence (AI)</a:t>
            </a:r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is about creating machines that can think, learn, and solve problems like humans.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814149" y="3629501"/>
            <a:ext cx="7515701" cy="1773317"/>
          </a:xfrm>
          <a:prstGeom prst="roundRect">
            <a:avLst>
              <a:gd name="adj" fmla="val 825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83669" y="3629501"/>
            <a:ext cx="121920" cy="1773317"/>
          </a:xfrm>
          <a:prstGeom prst="roundRect">
            <a:avLst>
              <a:gd name="adj" fmla="val 80134"/>
            </a:avLst>
          </a:prstGeom>
          <a:solidFill>
            <a:srgbClr val="609DFF"/>
          </a:solidFill>
          <a:ln/>
        </p:spPr>
      </p:sp>
      <p:sp>
        <p:nvSpPr>
          <p:cNvPr id="7" name="Text 4"/>
          <p:cNvSpPr/>
          <p:nvPr/>
        </p:nvSpPr>
        <p:spPr>
          <a:xfrm>
            <a:off x="1168598" y="3892510"/>
            <a:ext cx="3873579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Simulating Human Intellect</a:t>
            </a:r>
            <a:endParaRPr lang="en-US" sz="2250" dirty="0"/>
          </a:p>
        </p:txBody>
      </p:sp>
      <p:sp>
        <p:nvSpPr>
          <p:cNvPr id="8" name="Text 5"/>
          <p:cNvSpPr/>
          <p:nvPr/>
        </p:nvSpPr>
        <p:spPr>
          <a:xfrm>
            <a:off x="1168598" y="4395430"/>
            <a:ext cx="6898243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complex calculations to creative endeavors, AI aims to replicate human cognitive functions.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14149" y="5635347"/>
            <a:ext cx="7515701" cy="1773317"/>
          </a:xfrm>
          <a:prstGeom prst="roundRect">
            <a:avLst>
              <a:gd name="adj" fmla="val 8250"/>
            </a:avLst>
          </a:prstGeom>
          <a:solidFill>
            <a:srgbClr val="09151A">
              <a:alpha val="95000"/>
            </a:srgbClr>
          </a:solidFill>
          <a:ln w="30480">
            <a:solidFill>
              <a:srgbClr val="194A9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83669" y="5635347"/>
            <a:ext cx="121920" cy="1773317"/>
          </a:xfrm>
          <a:prstGeom prst="roundRect">
            <a:avLst>
              <a:gd name="adj" fmla="val 80134"/>
            </a:avLst>
          </a:prstGeom>
          <a:solidFill>
            <a:srgbClr val="609DFF"/>
          </a:solidFill>
          <a:ln/>
        </p:spPr>
      </p:sp>
      <p:sp>
        <p:nvSpPr>
          <p:cNvPr id="11" name="Text 8"/>
          <p:cNvSpPr/>
          <p:nvPr/>
        </p:nvSpPr>
        <p:spPr>
          <a:xfrm>
            <a:off x="1168598" y="5898356"/>
            <a:ext cx="2907625" cy="363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 from Data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168598" y="6401276"/>
            <a:ext cx="6898243" cy="744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systems continuously improve their performance by analyzing vast amounts of information.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229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357" y="3372922"/>
            <a:ext cx="8286393" cy="680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World of Machine Learning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762357" y="4380309"/>
            <a:ext cx="13105686" cy="34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 (ML)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is a powerful subset of AI. It empowers computers to learn from data without explicit programming.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62357" y="4973955"/>
            <a:ext cx="4223385" cy="653415"/>
          </a:xfrm>
          <a:prstGeom prst="roundRect">
            <a:avLst>
              <a:gd name="adj" fmla="val 4800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10696" y="5137309"/>
            <a:ext cx="326707" cy="3267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0122" y="5845135"/>
            <a:ext cx="2745581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Data-Driven Insights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980122" y="6316028"/>
            <a:ext cx="3787854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ML algorithms find patterns and make predictions from existing data.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5203508" y="4973955"/>
            <a:ext cx="4223385" cy="653415"/>
          </a:xfrm>
          <a:prstGeom prst="roundRect">
            <a:avLst>
              <a:gd name="adj" fmla="val 4800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51846" y="5137309"/>
            <a:ext cx="326707" cy="3267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21273" y="5845135"/>
            <a:ext cx="336494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Continuous Improvement</a:t>
            </a:r>
            <a:endParaRPr lang="en-US" sz="2100" dirty="0"/>
          </a:p>
        </p:txBody>
      </p:sp>
      <p:sp>
        <p:nvSpPr>
          <p:cNvPr id="12" name="Text 7"/>
          <p:cNvSpPr/>
          <p:nvPr/>
        </p:nvSpPr>
        <p:spPr>
          <a:xfrm>
            <a:off x="5421273" y="6316028"/>
            <a:ext cx="378785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more data they process, the smarter ML systems become.</a:t>
            </a:r>
            <a:endParaRPr lang="en-US" sz="1700" dirty="0"/>
          </a:p>
        </p:txBody>
      </p:sp>
      <p:sp>
        <p:nvSpPr>
          <p:cNvPr id="13" name="Shape 8"/>
          <p:cNvSpPr/>
          <p:nvPr/>
        </p:nvSpPr>
        <p:spPr>
          <a:xfrm>
            <a:off x="9644658" y="4973955"/>
            <a:ext cx="4223385" cy="653415"/>
          </a:xfrm>
          <a:prstGeom prst="roundRect">
            <a:avLst>
              <a:gd name="adj" fmla="val 480071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592997" y="5137309"/>
            <a:ext cx="326707" cy="3267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862423" y="5845135"/>
            <a:ext cx="295036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Forecasting the Future</a:t>
            </a:r>
            <a:endParaRPr lang="en-US" sz="2100" dirty="0"/>
          </a:p>
        </p:txBody>
      </p:sp>
      <p:sp>
        <p:nvSpPr>
          <p:cNvPr id="16" name="Text 10"/>
          <p:cNvSpPr/>
          <p:nvPr/>
        </p:nvSpPr>
        <p:spPr>
          <a:xfrm>
            <a:off x="9862423" y="6316028"/>
            <a:ext cx="3787854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From stock markets to weather, ML helps us anticipate what's next.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6151" y="499824"/>
            <a:ext cx="7324487" cy="56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Learning: The Next Frontier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6151" y="1431369"/>
            <a:ext cx="13358098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 (DL)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is a specialized form of Machine Learning inspired by the human brain's neural networks.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36151" y="2090261"/>
            <a:ext cx="6457355" cy="581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 uses multi-layered neural networks to learn intricate patterns from massive datasets.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6151" y="2835593"/>
            <a:ext cx="645735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Image Recognition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151" y="3190042"/>
            <a:ext cx="645735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Natural Language Processing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6151" y="3544491"/>
            <a:ext cx="6457355" cy="290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Autonomous Systems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4514" y="2131100"/>
            <a:ext cx="6457355" cy="6457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012" y="521613"/>
            <a:ext cx="4742855" cy="592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AI Family Tree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4012" y="1493877"/>
            <a:ext cx="13302377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Visualize the clear relationship: AI encompasses ML, and ML encompasses DL.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012" y="2010608"/>
            <a:ext cx="13302377" cy="608778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08065" y="2782199"/>
            <a:ext cx="2980639" cy="36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Artificial Intelligence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408065" y="3254654"/>
            <a:ext cx="3243432" cy="58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Systems that simulate human intelligence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017806" y="4783187"/>
            <a:ext cx="2942630" cy="36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78571" y="5255643"/>
            <a:ext cx="2981865" cy="58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Algorithms that learn from data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408065" y="5816377"/>
            <a:ext cx="2942630" cy="3678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408065" y="6288832"/>
            <a:ext cx="3243432" cy="588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Neural networks with many layers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64012" y="8311753"/>
            <a:ext cx="13302377" cy="303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Each layer builds upon the last, leading to increasingly sophisticated capabilities.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2961" y="655082"/>
            <a:ext cx="10583704" cy="743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50"/>
              </a:lnSpc>
              <a:buNone/>
            </a:pPr>
            <a:r>
              <a:rPr lang="en-US" sz="46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in Action: Real-World Applications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832961" y="1874877"/>
            <a:ext cx="12964478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is already making decisions and impacting our daily lives in countless ways.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2961" y="2523292"/>
            <a:ext cx="714018" cy="7140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2961" y="3534728"/>
            <a:ext cx="3079075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Autonomous Vehicles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832961" y="4049316"/>
            <a:ext cx="6333530" cy="761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Navigating roads and making real-time driving decisions.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63909" y="2523292"/>
            <a:ext cx="714018" cy="7140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63909" y="3534728"/>
            <a:ext cx="297513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Smart Assistants</a:t>
            </a:r>
            <a:endParaRPr lang="en-US" sz="2300" dirty="0"/>
          </a:p>
        </p:txBody>
      </p:sp>
      <p:sp>
        <p:nvSpPr>
          <p:cNvPr id="9" name="Text 5"/>
          <p:cNvSpPr/>
          <p:nvPr/>
        </p:nvSpPr>
        <p:spPr>
          <a:xfrm>
            <a:off x="7463909" y="4049316"/>
            <a:ext cx="6333530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commands and managing schedules.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2961" y="5286851"/>
            <a:ext cx="714018" cy="7140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2961" y="6298287"/>
            <a:ext cx="3299460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Healthcare Diagnostics</a:t>
            </a:r>
            <a:endParaRPr lang="en-US" sz="2300" dirty="0"/>
          </a:p>
        </p:txBody>
      </p:sp>
      <p:sp>
        <p:nvSpPr>
          <p:cNvPr id="12" name="Text 7"/>
          <p:cNvSpPr/>
          <p:nvPr/>
        </p:nvSpPr>
        <p:spPr>
          <a:xfrm>
            <a:off x="832961" y="6812875"/>
            <a:ext cx="6333530" cy="3807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Assisting doctors in identifying diseases earlier.</a:t>
            </a:r>
            <a:endParaRPr lang="en-US" sz="18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63909" y="5286851"/>
            <a:ext cx="714018" cy="7140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63909" y="6298287"/>
            <a:ext cx="2975134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Fraud Detection</a:t>
            </a:r>
            <a:endParaRPr lang="en-US" sz="2300" dirty="0"/>
          </a:p>
        </p:txBody>
      </p:sp>
      <p:sp>
        <p:nvSpPr>
          <p:cNvPr id="15" name="Text 9"/>
          <p:cNvSpPr/>
          <p:nvPr/>
        </p:nvSpPr>
        <p:spPr>
          <a:xfrm>
            <a:off x="7463909" y="6812875"/>
            <a:ext cx="6333530" cy="761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Protecting your finances by identifying suspicious activities.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519" y="419100"/>
            <a:ext cx="4687372" cy="476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Personalized Experiences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3519" y="1200269"/>
            <a:ext cx="13563362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tailors content, recommendations, and services just for you.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519" y="1787009"/>
            <a:ext cx="7989332" cy="798933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902184" y="1867972"/>
            <a:ext cx="76200" cy="76200"/>
          </a:xfrm>
          <a:prstGeom prst="roundRect">
            <a:avLst>
              <a:gd name="adj" fmla="val 600000"/>
            </a:avLst>
          </a:prstGeom>
          <a:solidFill>
            <a:srgbClr val="609DFF"/>
          </a:solidFill>
          <a:ln/>
        </p:spPr>
      </p:sp>
      <p:sp>
        <p:nvSpPr>
          <p:cNvPr id="6" name="Text 3"/>
          <p:cNvSpPr/>
          <p:nvPr/>
        </p:nvSpPr>
        <p:spPr>
          <a:xfrm>
            <a:off x="9130784" y="1787009"/>
            <a:ext cx="2656046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Shopping Recommendations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30784" y="2177534"/>
            <a:ext cx="497371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Helping you discover new products you'll love.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902184" y="2807137"/>
            <a:ext cx="76200" cy="76200"/>
          </a:xfrm>
          <a:prstGeom prst="roundRect">
            <a:avLst>
              <a:gd name="adj" fmla="val 600000"/>
            </a:avLst>
          </a:prstGeom>
          <a:solidFill>
            <a:srgbClr val="609DFF"/>
          </a:solidFill>
          <a:ln/>
        </p:spPr>
      </p:sp>
      <p:sp>
        <p:nvSpPr>
          <p:cNvPr id="9" name="Text 6"/>
          <p:cNvSpPr/>
          <p:nvPr/>
        </p:nvSpPr>
        <p:spPr>
          <a:xfrm>
            <a:off x="9130784" y="2726174"/>
            <a:ext cx="2123242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Streaming Suggestions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30784" y="3116699"/>
            <a:ext cx="497371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Curating movies and music based on your taste.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902184" y="3746302"/>
            <a:ext cx="76200" cy="76200"/>
          </a:xfrm>
          <a:prstGeom prst="roundRect">
            <a:avLst>
              <a:gd name="adj" fmla="val 600000"/>
            </a:avLst>
          </a:prstGeom>
          <a:solidFill>
            <a:srgbClr val="609DFF"/>
          </a:solidFill>
          <a:ln/>
        </p:spPr>
      </p:sp>
      <p:sp>
        <p:nvSpPr>
          <p:cNvPr id="12" name="Text 9"/>
          <p:cNvSpPr/>
          <p:nvPr/>
        </p:nvSpPr>
        <p:spPr>
          <a:xfrm>
            <a:off x="9130784" y="3665339"/>
            <a:ext cx="1905357" cy="23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News Feeds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30784" y="4055864"/>
            <a:ext cx="4973717" cy="243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Presenting articles and updates relevant to your interests.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965" y="1249442"/>
            <a:ext cx="6388418" cy="602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Enhancing Communication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4965" y="2237780"/>
            <a:ext cx="13280469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breaks down barriers and makes interactions smoother and more efficient.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2585" y="2888575"/>
            <a:ext cx="4318992" cy="231433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763" y="2888575"/>
            <a:ext cx="4318992" cy="231433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8942" y="2888575"/>
            <a:ext cx="4318992" cy="2314337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674965" y="5545098"/>
            <a:ext cx="13280469" cy="1434941"/>
          </a:xfrm>
          <a:prstGeom prst="roundRect">
            <a:avLst>
              <a:gd name="adj" fmla="val 5645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8" name="Shape 3"/>
          <p:cNvSpPr/>
          <p:nvPr/>
        </p:nvSpPr>
        <p:spPr>
          <a:xfrm>
            <a:off x="682585" y="5552718"/>
            <a:ext cx="4421743" cy="1419701"/>
          </a:xfrm>
          <a:prstGeom prst="roundRect">
            <a:avLst>
              <a:gd name="adj" fmla="val 5706"/>
            </a:avLst>
          </a:prstGeom>
          <a:solidFill>
            <a:srgbClr val="003180"/>
          </a:solidFill>
          <a:ln/>
        </p:spPr>
      </p:sp>
      <p:sp>
        <p:nvSpPr>
          <p:cNvPr id="9" name="Text 4"/>
          <p:cNvSpPr/>
          <p:nvPr/>
        </p:nvSpPr>
        <p:spPr>
          <a:xfrm>
            <a:off x="875348" y="5745480"/>
            <a:ext cx="2552105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Translation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875348" y="6162437"/>
            <a:ext cx="374689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Connecting people across different languages.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104328" y="5552718"/>
            <a:ext cx="4421743" cy="1419701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12" name="Shape 7"/>
          <p:cNvSpPr/>
          <p:nvPr/>
        </p:nvSpPr>
        <p:spPr>
          <a:xfrm>
            <a:off x="5104328" y="5552718"/>
            <a:ext cx="22860" cy="1419701"/>
          </a:xfrm>
          <a:prstGeom prst="roundRect">
            <a:avLst>
              <a:gd name="adj" fmla="val 354350"/>
            </a:avLst>
          </a:prstGeom>
          <a:solidFill>
            <a:srgbClr val="194A99"/>
          </a:solidFill>
          <a:ln/>
        </p:spPr>
      </p:sp>
      <p:sp>
        <p:nvSpPr>
          <p:cNvPr id="13" name="Text 8"/>
          <p:cNvSpPr/>
          <p:nvPr/>
        </p:nvSpPr>
        <p:spPr>
          <a:xfrm>
            <a:off x="5586413" y="5745480"/>
            <a:ext cx="255293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Smart Text Prediction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5586413" y="6162437"/>
            <a:ext cx="3457575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Helping us write faster and more accurately.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863346" y="6021526"/>
            <a:ext cx="482084" cy="482084"/>
          </a:xfrm>
          <a:prstGeom prst="roundRect">
            <a:avLst>
              <a:gd name="adj" fmla="val 1680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3837" y="6142018"/>
            <a:ext cx="240983" cy="240983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9526072" y="5552718"/>
            <a:ext cx="4421743" cy="1419701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18" name="Shape 12"/>
          <p:cNvSpPr/>
          <p:nvPr/>
        </p:nvSpPr>
        <p:spPr>
          <a:xfrm>
            <a:off x="9526072" y="5552718"/>
            <a:ext cx="22860" cy="1419701"/>
          </a:xfrm>
          <a:prstGeom prst="roundRect">
            <a:avLst>
              <a:gd name="adj" fmla="val 354350"/>
            </a:avLst>
          </a:prstGeom>
          <a:solidFill>
            <a:srgbClr val="194A99"/>
          </a:solidFill>
          <a:ln/>
        </p:spPr>
      </p:sp>
      <p:sp>
        <p:nvSpPr>
          <p:cNvPr id="19" name="Text 13"/>
          <p:cNvSpPr/>
          <p:nvPr/>
        </p:nvSpPr>
        <p:spPr>
          <a:xfrm>
            <a:off x="10008156" y="5745480"/>
            <a:ext cx="2410778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Intelligent Chatbots</a:t>
            </a:r>
            <a:endParaRPr lang="en-US" sz="1850" dirty="0"/>
          </a:p>
        </p:txBody>
      </p:sp>
      <p:sp>
        <p:nvSpPr>
          <p:cNvPr id="20" name="Text 14"/>
          <p:cNvSpPr/>
          <p:nvPr/>
        </p:nvSpPr>
        <p:spPr>
          <a:xfrm>
            <a:off x="10008156" y="6162437"/>
            <a:ext cx="3746897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Providing instant support and information.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9285089" y="6021526"/>
            <a:ext cx="482084" cy="482084"/>
          </a:xfrm>
          <a:prstGeom prst="roundRect">
            <a:avLst>
              <a:gd name="adj" fmla="val 16803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05580" y="6142018"/>
            <a:ext cx="240983" cy="2409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34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0463" y="668179"/>
            <a:ext cx="6075164" cy="759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50"/>
              </a:lnSpc>
              <a:buNone/>
            </a:pPr>
            <a:r>
              <a:rPr lang="en-US" sz="47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Shaping Our Future</a:t>
            </a:r>
            <a:endParaRPr lang="en-US" sz="4750" dirty="0"/>
          </a:p>
        </p:txBody>
      </p:sp>
      <p:sp>
        <p:nvSpPr>
          <p:cNvPr id="4" name="Text 1"/>
          <p:cNvSpPr/>
          <p:nvPr/>
        </p:nvSpPr>
        <p:spPr>
          <a:xfrm>
            <a:off x="850463" y="1792010"/>
            <a:ext cx="7443073" cy="777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is constantly evolving, promising even more innovative solutions ahead.</a:t>
            </a: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0463" y="2873216"/>
            <a:ext cx="243007" cy="24300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50463" y="3225403"/>
            <a:ext cx="3599974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7" name="Text 3"/>
          <p:cNvSpPr/>
          <p:nvPr/>
        </p:nvSpPr>
        <p:spPr>
          <a:xfrm>
            <a:off x="850463" y="3407807"/>
            <a:ext cx="3599974" cy="759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Unlocking New Discoveries</a:t>
            </a:r>
            <a:endParaRPr lang="en-US" sz="2350" dirty="0"/>
          </a:p>
        </p:txBody>
      </p:sp>
      <p:sp>
        <p:nvSpPr>
          <p:cNvPr id="8" name="Text 4"/>
          <p:cNvSpPr/>
          <p:nvPr/>
        </p:nvSpPr>
        <p:spPr>
          <a:xfrm>
            <a:off x="850463" y="4312682"/>
            <a:ext cx="3599974" cy="116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Accelerating research in science, medicine, and engineering.</a:t>
            </a:r>
            <a:endParaRPr lang="en-US" sz="19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3444" y="2873216"/>
            <a:ext cx="243007" cy="24300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693444" y="3225403"/>
            <a:ext cx="3600093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1" name="Text 6"/>
          <p:cNvSpPr/>
          <p:nvPr/>
        </p:nvSpPr>
        <p:spPr>
          <a:xfrm>
            <a:off x="4693444" y="3407807"/>
            <a:ext cx="3037523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Optimizing Systems</a:t>
            </a:r>
            <a:endParaRPr lang="en-US" sz="2350" dirty="0"/>
          </a:p>
        </p:txBody>
      </p:sp>
      <p:sp>
        <p:nvSpPr>
          <p:cNvPr id="12" name="Text 7"/>
          <p:cNvSpPr/>
          <p:nvPr/>
        </p:nvSpPr>
        <p:spPr>
          <a:xfrm>
            <a:off x="4693444" y="3933111"/>
            <a:ext cx="3600093" cy="1166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Making industries and processes more efficient and sustainable.</a:t>
            </a:r>
            <a:endParaRPr lang="en-US" sz="1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463" y="5934432"/>
            <a:ext cx="243007" cy="24300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850463" y="6286619"/>
            <a:ext cx="7443073" cy="30480"/>
          </a:xfrm>
          <a:prstGeom prst="rect">
            <a:avLst/>
          </a:prstGeom>
          <a:solidFill>
            <a:srgbClr val="609DFF"/>
          </a:solidFill>
          <a:ln/>
        </p:spPr>
      </p:sp>
      <p:sp>
        <p:nvSpPr>
          <p:cNvPr id="15" name="Text 9"/>
          <p:cNvSpPr/>
          <p:nvPr/>
        </p:nvSpPr>
        <p:spPr>
          <a:xfrm>
            <a:off x="850463" y="6469023"/>
            <a:ext cx="3037523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Inspiring Creativity</a:t>
            </a:r>
            <a:endParaRPr lang="en-US" sz="2350" dirty="0"/>
          </a:p>
        </p:txBody>
      </p:sp>
      <p:sp>
        <p:nvSpPr>
          <p:cNvPr id="16" name="Text 10"/>
          <p:cNvSpPr/>
          <p:nvPr/>
        </p:nvSpPr>
        <p:spPr>
          <a:xfrm>
            <a:off x="850463" y="6994327"/>
            <a:ext cx="7443073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Providing tools for artists, designers, and innovators.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62305" y="776764"/>
            <a:ext cx="6384012" cy="514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AI: Enhancing Human Decisions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062305" y="1537692"/>
            <a:ext cx="7992189" cy="5141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050"/>
              </a:lnSpc>
              <a:buNone/>
            </a:pPr>
            <a:r>
              <a:rPr lang="en-US" sz="64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It's not about replacing humans — it's about enhancing human decisions.</a:t>
            </a:r>
            <a:endParaRPr lang="en-US" sz="6450" dirty="0"/>
          </a:p>
        </p:txBody>
      </p:sp>
      <p:sp>
        <p:nvSpPr>
          <p:cNvPr id="5" name="Text 2"/>
          <p:cNvSpPr/>
          <p:nvPr/>
        </p:nvSpPr>
        <p:spPr>
          <a:xfrm>
            <a:off x="6062305" y="6926223"/>
            <a:ext cx="7992189" cy="526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serves as a powerful partner, augmenting our capabilities and driving progress for a brighter tomorrow. Embrace the journey!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2025-12-13T21:17:29Z</dcterms:created>
  <dcterms:modified xsi:type="dcterms:W3CDTF">2025-12-13T21:17:29Z</dcterms:modified>
</cp:coreProperties>
</file>